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78" r:id="rId3"/>
    <p:sldId id="279" r:id="rId4"/>
    <p:sldId id="280" r:id="rId5"/>
    <p:sldId id="287" r:id="rId6"/>
    <p:sldId id="285" r:id="rId7"/>
    <p:sldId id="281" r:id="rId8"/>
    <p:sldId id="286" r:id="rId9"/>
    <p:sldId id="2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A7D78-895D-41A1-B6AE-721A44D4573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B528-79D5-47F2-8C16-6F77E95A1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9578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229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19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04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>
          <a:extLst>
            <a:ext uri="{FF2B5EF4-FFF2-40B4-BE49-F238E27FC236}">
              <a16:creationId xmlns:a16="http://schemas.microsoft.com/office/drawing/2014/main" id="{85A5AEF8-7D8E-412C-E821-588DA81A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>
            <a:extLst>
              <a:ext uri="{FF2B5EF4-FFF2-40B4-BE49-F238E27FC236}">
                <a16:creationId xmlns:a16="http://schemas.microsoft.com/office/drawing/2014/main" id="{7BE26978-2FB9-6487-D4F9-951725FD4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:notes">
            <a:extLst>
              <a:ext uri="{FF2B5EF4-FFF2-40B4-BE49-F238E27FC236}">
                <a16:creationId xmlns:a16="http://schemas.microsoft.com/office/drawing/2014/main" id="{D78DFFA6-8CEF-5D01-B56C-986FE664F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3104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970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685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006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21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15B9-37D2-4E32-9E57-07AC10BF8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C1719-B3E0-4A83-A234-55076FE2F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F4EE-EB92-4260-A5A9-8F8E1D18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37D33-F689-41DE-B92D-D6990F09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E5394-3714-406C-AF11-A1FF65D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6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C7F0-392B-4199-9604-685A18CA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EF15-532A-4133-B4B5-3A55F7B1F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887F-4909-4AE9-9874-D018F4E2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01EFC-0F59-4270-9F75-C4572356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508CD-1274-4ABA-9C0C-AF8ABBE2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D2AC-83E9-4A0A-9DA5-9788F827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B2756-BB62-49C0-918D-94A413BC2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CF61A-5D54-4424-82A6-9BF89F11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CDB1C-371A-4BE7-A71D-95737F68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6ACF-DA07-41B7-93FB-B80227DA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17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F293-A4BE-4D35-BC5D-1C764318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5E752-C2AA-4467-90EF-BD6876161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E34B4-6881-45C5-B115-CAD71144A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91A5B-D81F-410F-8FC5-201D48CA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15A39-AFB8-4917-A28B-72A9E044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556CD-AC4C-46C4-BBF3-5359A368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8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E7F1-8222-4ECD-A8F1-80B26D82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46831-3DA5-4013-B123-71E5D85B3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01B9-C114-4677-8F86-68C10A9E2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1E726-908A-4FC1-91DD-FF652A26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E961F-2320-4EFF-97DC-6168BF583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DB43A-06BC-4BAC-91C2-A4BC7DA0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62E3A-9C97-462D-87A4-F79AC88A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7EB07-57D6-495E-AEBF-D4DD4B33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4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F560-37C1-488A-9690-F43B4238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48A8B-0970-4154-90E4-8CEE333D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D9A06-B66F-4C4B-B0B8-C6DC59342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3EB0A-196B-497D-8EDD-49647068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6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752C7-4AF7-450A-A5FE-8694E73F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388C1-38B2-46D3-A33E-54E670C5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B34AC-B973-4DA4-A8A4-7D954F39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0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F356-F167-4E4E-A10D-5C3526E8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285D-FD4C-4278-B22D-106C985C7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B11B3-047E-4B9B-80B1-CD9643565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2D80D-F2A3-4946-BB3F-B92D413E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985-9AD2-4B7F-A103-9C72BB7A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C3E5-E5AD-46D0-A477-3D7C6384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B3B8-A942-43E6-A5D9-6BC6206A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F9C8E-1258-4438-B5E6-AD67C4879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E64BF-926D-49E3-AF38-8FBE9BCED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9A2C6-A53F-492C-9370-69EADB64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26A36-0C7D-46FB-A202-B6C934D5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A80D0-6C94-4B3E-AAE7-D51CE8A9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9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1FAA-8056-49E4-AC79-E7FF36BC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DE123-7B84-4019-817C-170231B0E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A9D08-7472-4000-8F7B-6BE419D5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3D3A4-F79F-4F70-A943-5107D0C0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DABB5-1931-497F-B819-928C504A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95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428C-0EFA-47A8-9397-F3268EF95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16FDE-36D9-43E7-9152-9AFBE68C0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10D38-F065-41D3-9C94-259E4C1F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97D52-0F37-4E1F-B24C-26F5A0D75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1E32F-9A63-49FB-A0FC-76EA8CE9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0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FE2D50-493E-4F90-8E15-2A85DE96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8BAEB-6B6C-4210-84D5-5678486E5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C20B7-3298-4EF5-AD08-63DAF5DBA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D74EE-25A1-485C-BCBE-6B34B7094A02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E8587-503D-4792-919E-A5A43693F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5231-675F-4AA2-8F48-D3458FE80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911B8-4014-40DF-988D-1E72725F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2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27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700" name="Google Shape;700;p27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701" name="Google Shape;701;p27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2" name="Google Shape;702;p27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703" name="Google Shape;703;p27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704" name="Google Shape;704;p27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5" name="Google Shape;705;p27"/>
          <p:cNvSpPr txBox="1"/>
          <p:nvPr/>
        </p:nvSpPr>
        <p:spPr>
          <a:xfrm>
            <a:off x="1537269" y="665291"/>
            <a:ext cx="9213903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7"/>
              </a:lnSpc>
            </a:pPr>
            <a:r>
              <a:rPr lang="es-CO" sz="4800" b="1" dirty="0">
                <a:solidFill>
                  <a:srgbClr val="688186"/>
                </a:solidFill>
                <a:latin typeface="Josefin Sans"/>
                <a:sym typeface="Josefin Sans"/>
              </a:rPr>
              <a:t>T</a:t>
            </a:r>
            <a:r>
              <a:rPr lang="en-US" sz="4800" b="1" dirty="0">
                <a:solidFill>
                  <a:srgbClr val="688186"/>
                </a:solidFill>
                <a:latin typeface="Josefin Sans"/>
                <a:sym typeface="Josefin Sans"/>
              </a:rPr>
              <a:t>racking de </a:t>
            </a:r>
            <a:r>
              <a:rPr lang="en-US" sz="4800" b="1" dirty="0" err="1">
                <a:solidFill>
                  <a:srgbClr val="688186"/>
                </a:solidFill>
                <a:latin typeface="Josefin Sans"/>
                <a:sym typeface="Josefin Sans"/>
              </a:rPr>
              <a:t>Proyectos</a:t>
            </a:r>
            <a:r>
              <a:rPr lang="en-US" sz="4800" b="1" dirty="0">
                <a:solidFill>
                  <a:srgbClr val="688186"/>
                </a:solidFill>
                <a:latin typeface="Josefin Sans"/>
                <a:sym typeface="Josefin Sans"/>
              </a:rPr>
              <a:t> de Desarrollo de Software</a:t>
            </a:r>
            <a:endParaRPr sz="600" dirty="0"/>
          </a:p>
        </p:txBody>
      </p:sp>
      <p:sp>
        <p:nvSpPr>
          <p:cNvPr id="706" name="Google Shape;706;p27"/>
          <p:cNvSpPr txBox="1"/>
          <p:nvPr/>
        </p:nvSpPr>
        <p:spPr>
          <a:xfrm>
            <a:off x="1072813" y="4572839"/>
            <a:ext cx="4684434" cy="9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81009"/>
              </a:lnSpc>
            </a:pPr>
            <a:r>
              <a:rPr lang="en-US" sz="1783" b="1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Miguel Benavides Lara</a:t>
            </a:r>
          </a:p>
          <a:p>
            <a:pPr marL="0" lvl="1" algn="ctr">
              <a:lnSpc>
                <a:spcPct val="181009"/>
              </a:lnSpc>
            </a:pPr>
            <a:r>
              <a:rPr lang="en-US" sz="1783" b="1" dirty="0">
                <a:latin typeface="Assistant"/>
                <a:cs typeface="Assistant"/>
                <a:sym typeface="Assistant"/>
              </a:rPr>
              <a:t>Diego Leonardo Baron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33826-11D2-4C89-801E-5641D6FE836D}"/>
              </a:ext>
            </a:extLst>
          </p:cNvPr>
          <p:cNvSpPr/>
          <p:nvPr/>
        </p:nvSpPr>
        <p:spPr>
          <a:xfrm>
            <a:off x="4326671" y="3272792"/>
            <a:ext cx="3635098" cy="10570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81009"/>
              </a:lnSpc>
            </a:pPr>
            <a:r>
              <a:rPr lang="es-CO" sz="1867" b="1" dirty="0">
                <a:latin typeface="Assistant"/>
                <a:cs typeface="Assistant"/>
                <a:sym typeface="Assistant"/>
              </a:rPr>
              <a:t>Ciencia de Datos Aplicada</a:t>
            </a:r>
          </a:p>
          <a:p>
            <a:pPr lvl="1" algn="ctr">
              <a:lnSpc>
                <a:spcPct val="181009"/>
              </a:lnSpc>
            </a:pPr>
            <a:r>
              <a:rPr lang="es-CO" sz="1867" b="1" dirty="0">
                <a:latin typeface="Assistant"/>
                <a:cs typeface="Assistant"/>
                <a:sym typeface="Assistant"/>
              </a:rPr>
              <a:t>Octubre 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17069-5437-4845-90C0-198968E932B9}"/>
              </a:ext>
            </a:extLst>
          </p:cNvPr>
          <p:cNvSpPr/>
          <p:nvPr/>
        </p:nvSpPr>
        <p:spPr>
          <a:xfrm>
            <a:off x="5614890" y="4576986"/>
            <a:ext cx="6096000" cy="102002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ctr">
              <a:lnSpc>
                <a:spcPct val="181009"/>
              </a:lnSpc>
            </a:pPr>
            <a:r>
              <a:rPr lang="pt-BR" sz="1783" b="1" dirty="0">
                <a:latin typeface="Assistant"/>
                <a:cs typeface="Assistant"/>
                <a:sym typeface="Assistant"/>
              </a:rPr>
              <a:t>Ivan David Suarez</a:t>
            </a:r>
          </a:p>
          <a:p>
            <a:pPr lvl="1" algn="ctr">
              <a:lnSpc>
                <a:spcPct val="181009"/>
              </a:lnSpc>
            </a:pPr>
            <a:r>
              <a:rPr lang="pt-BR" sz="1783" b="1" dirty="0">
                <a:latin typeface="Assistant"/>
                <a:cs typeface="Assistant"/>
                <a:sym typeface="Assistant"/>
              </a:rPr>
              <a:t>Santiago Palacios Loaiza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5968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19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381" name="Google Shape;381;p19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382" name="Google Shape;382;p19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9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384" name="Google Shape;384;p19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385" name="Google Shape;385;p19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19"/>
          <p:cNvSpPr/>
          <p:nvPr/>
        </p:nvSpPr>
        <p:spPr>
          <a:xfrm>
            <a:off x="7200348" y="1687779"/>
            <a:ext cx="4014709" cy="4686603"/>
          </a:xfrm>
          <a:custGeom>
            <a:avLst/>
            <a:gdLst/>
            <a:ahLst/>
            <a:cxnLst/>
            <a:rect l="l" t="t" r="r" b="b"/>
            <a:pathLst>
              <a:path w="1038262" h="1735883" extrusionOk="0">
                <a:moveTo>
                  <a:pt x="0" y="0"/>
                </a:moveTo>
                <a:lnTo>
                  <a:pt x="1038262" y="0"/>
                </a:lnTo>
                <a:lnTo>
                  <a:pt x="1038262" y="1735883"/>
                </a:lnTo>
                <a:lnTo>
                  <a:pt x="0" y="1735883"/>
                </a:lnTo>
                <a:close/>
              </a:path>
            </a:pathLst>
          </a:custGeom>
          <a:solidFill>
            <a:srgbClr val="688186"/>
          </a:solidFill>
          <a:ln>
            <a:noFill/>
          </a:ln>
        </p:spPr>
      </p:sp>
      <p:grpSp>
        <p:nvGrpSpPr>
          <p:cNvPr id="401" name="Google Shape;401;p19"/>
          <p:cNvGrpSpPr/>
          <p:nvPr/>
        </p:nvGrpSpPr>
        <p:grpSpPr>
          <a:xfrm>
            <a:off x="7786806" y="1783321"/>
            <a:ext cx="3142901" cy="454811"/>
            <a:chOff x="0" y="-38100"/>
            <a:chExt cx="812800" cy="161606"/>
          </a:xfrm>
        </p:grpSpPr>
        <p:sp>
          <p:nvSpPr>
            <p:cNvPr id="402" name="Google Shape;402;p19"/>
            <p:cNvSpPr/>
            <p:nvPr/>
          </p:nvSpPr>
          <p:spPr>
            <a:xfrm>
              <a:off x="0" y="0"/>
              <a:ext cx="812800" cy="123506"/>
            </a:xfrm>
            <a:custGeom>
              <a:avLst/>
              <a:gdLst/>
              <a:ahLst/>
              <a:cxnLst/>
              <a:rect l="l" t="t" r="r" b="b"/>
              <a:pathLst>
                <a:path w="812800" h="123506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23506"/>
                  </a:lnTo>
                  <a:lnTo>
                    <a:pt x="0" y="1235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3" name="Google Shape;403;p19"/>
            <p:cNvSpPr txBox="1"/>
            <p:nvPr/>
          </p:nvSpPr>
          <p:spPr>
            <a:xfrm>
              <a:off x="0" y="-38100"/>
              <a:ext cx="812800" cy="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9"/>
          <p:cNvSpPr txBox="1"/>
          <p:nvPr/>
        </p:nvSpPr>
        <p:spPr>
          <a:xfrm>
            <a:off x="1184370" y="483619"/>
            <a:ext cx="9823260" cy="9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0"/>
              </a:lnSpc>
            </a:pPr>
            <a:r>
              <a:rPr lang="es-CO" sz="5334" b="1" dirty="0">
                <a:solidFill>
                  <a:srgbClr val="688186"/>
                </a:solidFill>
                <a:latin typeface="Josefin Sans"/>
                <a:sym typeface="Josefin Sans"/>
              </a:rPr>
              <a:t>I</a:t>
            </a:r>
            <a:r>
              <a:rPr lang="en-US" sz="5334" b="1" dirty="0">
                <a:solidFill>
                  <a:srgbClr val="688186"/>
                </a:solidFill>
                <a:latin typeface="Josefin Sans"/>
                <a:sym typeface="Josefin Sans"/>
              </a:rPr>
              <a:t>MG </a:t>
            </a:r>
            <a:r>
              <a:rPr lang="es-419" sz="5334" b="1" dirty="0">
                <a:solidFill>
                  <a:srgbClr val="688186"/>
                </a:solidFill>
                <a:latin typeface="Josefin Sans"/>
                <a:sym typeface="Josefin Sans"/>
              </a:rPr>
              <a:t>Procesos</a:t>
            </a:r>
            <a:r>
              <a:rPr lang="en-US" sz="5334" b="1" dirty="0">
                <a:solidFill>
                  <a:srgbClr val="688186"/>
                </a:solidFill>
                <a:latin typeface="Josefin Sans"/>
                <a:sym typeface="Josefin Sans"/>
              </a:rPr>
              <a:t> y </a:t>
            </a:r>
            <a:r>
              <a:rPr lang="es-CO" sz="5334" b="1" dirty="0">
                <a:solidFill>
                  <a:srgbClr val="688186"/>
                </a:solidFill>
                <a:latin typeface="Josefin Sans"/>
                <a:sym typeface="Josefin Sans"/>
              </a:rPr>
              <a:t>Tecnologías</a:t>
            </a:r>
            <a:endParaRPr lang="es-CO" sz="1200" dirty="0"/>
          </a:p>
        </p:txBody>
      </p:sp>
      <p:sp>
        <p:nvSpPr>
          <p:cNvPr id="428" name="Google Shape;428;p19"/>
          <p:cNvSpPr txBox="1"/>
          <p:nvPr/>
        </p:nvSpPr>
        <p:spPr>
          <a:xfrm>
            <a:off x="7621114" y="1916367"/>
            <a:ext cx="3389152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533" b="1" dirty="0">
                <a:latin typeface="Assistant"/>
                <a:cs typeface="Assistant"/>
                <a:sym typeface="Assistant"/>
              </a:rPr>
              <a:t>Productos</a:t>
            </a:r>
            <a:endParaRPr lang="es-CO" sz="1200" dirty="0"/>
          </a:p>
        </p:txBody>
      </p:sp>
      <p:sp>
        <p:nvSpPr>
          <p:cNvPr id="432" name="Google Shape;432;p19"/>
          <p:cNvSpPr txBox="1"/>
          <p:nvPr/>
        </p:nvSpPr>
        <p:spPr>
          <a:xfrm>
            <a:off x="7924885" y="4342148"/>
            <a:ext cx="2778719" cy="123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s-CO" sz="1333" b="1" dirty="0">
                <a:latin typeface="Assistant"/>
                <a:cs typeface="Assistant"/>
              </a:rPr>
              <a:t>Venta de dos productos de gestión documental:</a:t>
            </a:r>
          </a:p>
          <a:p>
            <a:pPr algn="ctr">
              <a:lnSpc>
                <a:spcPct val="120000"/>
              </a:lnSpc>
            </a:pPr>
            <a:endParaRPr lang="es-CO" sz="1333" b="1" dirty="0">
              <a:latin typeface="Assistant"/>
              <a:cs typeface="Assistant"/>
            </a:endParaRPr>
          </a:p>
          <a:p>
            <a:pPr algn="ctr">
              <a:lnSpc>
                <a:spcPct val="120000"/>
              </a:lnSpc>
            </a:pPr>
            <a:r>
              <a:rPr lang="es-CO" sz="1333" b="1" dirty="0">
                <a:latin typeface="Assistant"/>
                <a:cs typeface="Assistant"/>
              </a:rPr>
              <a:t>Infopoint</a:t>
            </a:r>
          </a:p>
          <a:p>
            <a:pPr algn="ctr">
              <a:lnSpc>
                <a:spcPct val="120000"/>
              </a:lnSpc>
            </a:pPr>
            <a:r>
              <a:rPr lang="es-CO" sz="1333" b="1" dirty="0">
                <a:latin typeface="Assistant"/>
                <a:cs typeface="Assistant"/>
              </a:rPr>
              <a:t>SITI</a:t>
            </a:r>
            <a:endParaRPr sz="1333" b="1" dirty="0">
              <a:latin typeface="Assistant"/>
              <a:cs typeface="Assistant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A8CB12-59A2-417B-B6C8-1433318DF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591" y="2449830"/>
            <a:ext cx="3169309" cy="152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Google Shape;387;p19">
            <a:extLst>
              <a:ext uri="{FF2B5EF4-FFF2-40B4-BE49-F238E27FC236}">
                <a16:creationId xmlns:a16="http://schemas.microsoft.com/office/drawing/2014/main" id="{2EF1405C-74BC-4426-8A61-2F3DFF760C0E}"/>
              </a:ext>
            </a:extLst>
          </p:cNvPr>
          <p:cNvSpPr/>
          <p:nvPr/>
        </p:nvSpPr>
        <p:spPr>
          <a:xfrm>
            <a:off x="1181734" y="1687779"/>
            <a:ext cx="4014709" cy="4686603"/>
          </a:xfrm>
          <a:custGeom>
            <a:avLst/>
            <a:gdLst/>
            <a:ahLst/>
            <a:cxnLst/>
            <a:rect l="l" t="t" r="r" b="b"/>
            <a:pathLst>
              <a:path w="1038262" h="1735883" extrusionOk="0">
                <a:moveTo>
                  <a:pt x="0" y="0"/>
                </a:moveTo>
                <a:lnTo>
                  <a:pt x="1038262" y="0"/>
                </a:lnTo>
                <a:lnTo>
                  <a:pt x="1038262" y="1735883"/>
                </a:lnTo>
                <a:lnTo>
                  <a:pt x="0" y="1735883"/>
                </a:lnTo>
                <a:close/>
              </a:path>
            </a:pathLst>
          </a:custGeom>
          <a:solidFill>
            <a:srgbClr val="FFC606"/>
          </a:solidFill>
          <a:ln>
            <a:noFill/>
          </a:ln>
        </p:spPr>
        <p:txBody>
          <a:bodyPr/>
          <a:lstStyle/>
          <a:p>
            <a:endParaRPr lang="en-US" sz="1200" dirty="0"/>
          </a:p>
        </p:txBody>
      </p:sp>
      <p:grpSp>
        <p:nvGrpSpPr>
          <p:cNvPr id="61" name="Google Shape;401;p19">
            <a:extLst>
              <a:ext uri="{FF2B5EF4-FFF2-40B4-BE49-F238E27FC236}">
                <a16:creationId xmlns:a16="http://schemas.microsoft.com/office/drawing/2014/main" id="{09F6CB21-7BDE-4D75-9EA7-95DF3C5BBF6F}"/>
              </a:ext>
            </a:extLst>
          </p:cNvPr>
          <p:cNvGrpSpPr/>
          <p:nvPr/>
        </p:nvGrpSpPr>
        <p:grpSpPr>
          <a:xfrm>
            <a:off x="1768192" y="1783321"/>
            <a:ext cx="3142901" cy="454811"/>
            <a:chOff x="0" y="-38100"/>
            <a:chExt cx="812800" cy="161606"/>
          </a:xfrm>
        </p:grpSpPr>
        <p:sp>
          <p:nvSpPr>
            <p:cNvPr id="62" name="Google Shape;402;p19">
              <a:extLst>
                <a:ext uri="{FF2B5EF4-FFF2-40B4-BE49-F238E27FC236}">
                  <a16:creationId xmlns:a16="http://schemas.microsoft.com/office/drawing/2014/main" id="{823B4EFC-5861-4CA2-AFDC-AAB9DDF594A5}"/>
                </a:ext>
              </a:extLst>
            </p:cNvPr>
            <p:cNvSpPr/>
            <p:nvPr/>
          </p:nvSpPr>
          <p:spPr>
            <a:xfrm>
              <a:off x="0" y="0"/>
              <a:ext cx="812800" cy="123506"/>
            </a:xfrm>
            <a:custGeom>
              <a:avLst/>
              <a:gdLst/>
              <a:ahLst/>
              <a:cxnLst/>
              <a:rect l="l" t="t" r="r" b="b"/>
              <a:pathLst>
                <a:path w="812800" h="123506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23506"/>
                  </a:lnTo>
                  <a:lnTo>
                    <a:pt x="0" y="1235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" name="Google Shape;403;p19">
              <a:extLst>
                <a:ext uri="{FF2B5EF4-FFF2-40B4-BE49-F238E27FC236}">
                  <a16:creationId xmlns:a16="http://schemas.microsoft.com/office/drawing/2014/main" id="{9AC0F436-54D8-4C0A-B434-2CA2B19A21CB}"/>
                </a:ext>
              </a:extLst>
            </p:cNvPr>
            <p:cNvSpPr txBox="1"/>
            <p:nvPr/>
          </p:nvSpPr>
          <p:spPr>
            <a:xfrm>
              <a:off x="0" y="-38100"/>
              <a:ext cx="812800" cy="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428;p19">
            <a:extLst>
              <a:ext uri="{FF2B5EF4-FFF2-40B4-BE49-F238E27FC236}">
                <a16:creationId xmlns:a16="http://schemas.microsoft.com/office/drawing/2014/main" id="{CBB4510D-AA20-4C1A-8373-AA918403F960}"/>
              </a:ext>
            </a:extLst>
          </p:cNvPr>
          <p:cNvSpPr txBox="1"/>
          <p:nvPr/>
        </p:nvSpPr>
        <p:spPr>
          <a:xfrm>
            <a:off x="1602500" y="1916367"/>
            <a:ext cx="3389152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533" b="1" dirty="0">
                <a:latin typeface="Assistant"/>
                <a:cs typeface="Assistant"/>
                <a:sym typeface="Assistant"/>
              </a:rPr>
              <a:t>La empresa</a:t>
            </a:r>
            <a:endParaRPr sz="1200" dirty="0"/>
          </a:p>
        </p:txBody>
      </p:sp>
      <p:sp>
        <p:nvSpPr>
          <p:cNvPr id="65" name="Google Shape;432;p19">
            <a:extLst>
              <a:ext uri="{FF2B5EF4-FFF2-40B4-BE49-F238E27FC236}">
                <a16:creationId xmlns:a16="http://schemas.microsoft.com/office/drawing/2014/main" id="{B7B38D14-95A2-4355-B159-9ED38C85101F}"/>
              </a:ext>
            </a:extLst>
          </p:cNvPr>
          <p:cNvSpPr txBox="1"/>
          <p:nvPr/>
        </p:nvSpPr>
        <p:spPr>
          <a:xfrm>
            <a:off x="1679656" y="4342148"/>
            <a:ext cx="2993945" cy="165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es-CO" sz="1333" b="1" dirty="0">
                <a:latin typeface="Assistant"/>
                <a:cs typeface="Assistant"/>
              </a:rPr>
              <a:t>Empresa con 15 años de experiencia en desarrollo de software</a:t>
            </a:r>
            <a:r>
              <a:rPr lang="en-US" sz="1333" b="1" dirty="0">
                <a:latin typeface="Assistant"/>
                <a:cs typeface="Assistant"/>
              </a:rPr>
              <a:t>​</a:t>
            </a:r>
          </a:p>
          <a:p>
            <a:pPr fontAlgn="base"/>
            <a:endParaRPr lang="en-US" sz="1333" b="1" dirty="0">
              <a:latin typeface="Assistant"/>
              <a:cs typeface="Assistant"/>
            </a:endParaRPr>
          </a:p>
          <a:p>
            <a:pPr fontAlgn="base"/>
            <a:r>
              <a:rPr lang="es-CO" sz="1333" b="1" dirty="0">
                <a:latin typeface="Assistant"/>
                <a:cs typeface="Assistant"/>
              </a:rPr>
              <a:t>Productos centrados en:</a:t>
            </a:r>
            <a:r>
              <a:rPr lang="en-US" sz="1333" b="1" dirty="0">
                <a:latin typeface="Assistant"/>
                <a:cs typeface="Assistant"/>
              </a:rPr>
              <a:t>​</a:t>
            </a:r>
          </a:p>
          <a:p>
            <a:pPr marL="228611" lvl="5" indent="-228611" fontAlgn="base">
              <a:buFont typeface="Arial" panose="020B0604020202020204" pitchFamily="34" charset="0"/>
              <a:buChar char="•"/>
            </a:pPr>
            <a:r>
              <a:rPr lang="es-CO" sz="1333" b="1" dirty="0">
                <a:latin typeface="Assistant"/>
                <a:cs typeface="Assistant"/>
              </a:rPr>
              <a:t>Gestión documental y archivo</a:t>
            </a:r>
            <a:r>
              <a:rPr lang="en-US" sz="1333" b="1" dirty="0">
                <a:latin typeface="Assistant"/>
                <a:cs typeface="Assistant"/>
              </a:rPr>
              <a:t>​</a:t>
            </a:r>
          </a:p>
          <a:p>
            <a:pPr marL="228611" lvl="2" indent="-228611" fontAlgn="base">
              <a:buFont typeface="Arial" panose="020B0604020202020204" pitchFamily="34" charset="0"/>
              <a:buChar char="•"/>
            </a:pPr>
            <a:r>
              <a:rPr lang="es-CO" sz="1333" b="1" dirty="0">
                <a:latin typeface="Assistant"/>
                <a:cs typeface="Assistant"/>
              </a:rPr>
              <a:t>Modelamiento de procesos administrativos</a:t>
            </a:r>
            <a:endParaRPr lang="en-US" sz="1333" b="1" dirty="0">
              <a:latin typeface="Assistant"/>
              <a:cs typeface="Assistant"/>
            </a:endParaRPr>
          </a:p>
          <a:p>
            <a:pPr algn="ctr">
              <a:lnSpc>
                <a:spcPct val="120000"/>
              </a:lnSpc>
            </a:pPr>
            <a:endParaRPr sz="1200" dirty="0"/>
          </a:p>
        </p:txBody>
      </p:sp>
      <p:pic>
        <p:nvPicPr>
          <p:cNvPr id="1034" name="Picture 10" descr="IMG Procesos y Tecnología SAS">
            <a:extLst>
              <a:ext uri="{FF2B5EF4-FFF2-40B4-BE49-F238E27FC236}">
                <a16:creationId xmlns:a16="http://schemas.microsoft.com/office/drawing/2014/main" id="{DA3C418C-5748-4FB0-87EF-721E03A68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548" y="2361597"/>
            <a:ext cx="2523057" cy="170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03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9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103" name="Google Shape;103;p9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104" name="Google Shape;104;p9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9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106" name="Google Shape;106;p9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107" name="Google Shape;107;p9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9"/>
          <p:cNvGrpSpPr/>
          <p:nvPr/>
        </p:nvGrpSpPr>
        <p:grpSpPr>
          <a:xfrm>
            <a:off x="6250236" y="2075985"/>
            <a:ext cx="827838" cy="541776"/>
            <a:chOff x="0" y="-38100"/>
            <a:chExt cx="812800" cy="444500"/>
          </a:xfrm>
        </p:grpSpPr>
        <p:sp>
          <p:nvSpPr>
            <p:cNvPr id="112" name="Google Shape;112;p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 dirty="0"/>
            </a:p>
          </p:txBody>
        </p:sp>
        <p:sp>
          <p:nvSpPr>
            <p:cNvPr id="113" name="Google Shape;113;p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650" tIns="29650" rIns="29650" bIns="29650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9"/>
          <p:cNvSpPr/>
          <p:nvPr/>
        </p:nvSpPr>
        <p:spPr>
          <a:xfrm rot="2700000">
            <a:off x="6447769" y="2151972"/>
            <a:ext cx="432007" cy="434486"/>
          </a:xfrm>
          <a:custGeom>
            <a:avLst/>
            <a:gdLst/>
            <a:ahLst/>
            <a:cxnLst/>
            <a:rect l="l" t="t" r="r" b="b"/>
            <a:pathLst>
              <a:path w="823401" h="823401" extrusionOk="0">
                <a:moveTo>
                  <a:pt x="0" y="0"/>
                </a:moveTo>
                <a:lnTo>
                  <a:pt x="823401" y="0"/>
                </a:lnTo>
                <a:lnTo>
                  <a:pt x="823401" y="823401"/>
                </a:lnTo>
                <a:lnTo>
                  <a:pt x="0" y="823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9"/>
          <p:cNvSpPr txBox="1"/>
          <p:nvPr/>
        </p:nvSpPr>
        <p:spPr>
          <a:xfrm>
            <a:off x="1149099" y="2049622"/>
            <a:ext cx="3761654" cy="55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000"/>
              </a:lnSpc>
            </a:pPr>
            <a:r>
              <a:rPr lang="es-CO" sz="1867" b="1" dirty="0">
                <a:solidFill>
                  <a:srgbClr val="FFC606"/>
                </a:solidFill>
                <a:latin typeface="Josefin Sans"/>
                <a:sym typeface="Josefin Sans"/>
              </a:rPr>
              <a:t>O</a:t>
            </a:r>
            <a:r>
              <a:rPr lang="es-419" sz="1867" b="1" dirty="0">
                <a:solidFill>
                  <a:srgbClr val="FFC606"/>
                </a:solidFill>
                <a:latin typeface="Josefin Sans"/>
                <a:sym typeface="Josefin Sans"/>
              </a:rPr>
              <a:t>bjetivo</a:t>
            </a:r>
            <a:r>
              <a:rPr lang="en-US" sz="1867" b="1" dirty="0">
                <a:solidFill>
                  <a:srgbClr val="FFC606"/>
                </a:solidFill>
                <a:latin typeface="Josefin Sans"/>
                <a:sym typeface="Josefin Sans"/>
              </a:rPr>
              <a:t> General:</a:t>
            </a:r>
            <a:endParaRPr sz="533" dirty="0"/>
          </a:p>
        </p:txBody>
      </p:sp>
      <p:sp>
        <p:nvSpPr>
          <p:cNvPr id="116" name="Google Shape;116;p9"/>
          <p:cNvSpPr txBox="1"/>
          <p:nvPr/>
        </p:nvSpPr>
        <p:spPr>
          <a:xfrm>
            <a:off x="1065525" y="2792990"/>
            <a:ext cx="3429000" cy="201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5"/>
              </a:lnSpc>
            </a:pPr>
            <a:r>
              <a:rPr lang="es-ES" sz="1333" dirty="0">
                <a:latin typeface="Assistant"/>
                <a:cs typeface="Assistant"/>
              </a:rPr>
              <a:t>Diseñar e implementar una solución integral de registro, integración y análisis de datos que permita optimizar la trazabilidad, productividad y gestión de los proyectos en IMG Procesos y Tecnología, facilitando la toma de decisiones basadas en información confiable. </a:t>
            </a:r>
            <a:endParaRPr sz="1333" dirty="0">
              <a:latin typeface="Assistant"/>
              <a:cs typeface="Assistant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2674009" y="415933"/>
            <a:ext cx="6844000" cy="9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3"/>
              </a:lnSpc>
            </a:pPr>
            <a:r>
              <a:rPr lang="es-CO" sz="5334" b="1" dirty="0">
                <a:solidFill>
                  <a:srgbClr val="688186"/>
                </a:solidFill>
                <a:latin typeface="Josefin Sans"/>
                <a:sym typeface="Josefin Sans"/>
              </a:rPr>
              <a:t>Objetivos</a:t>
            </a:r>
            <a:endParaRPr sz="667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AD61C-3D40-4A56-B9D1-50B4F444C0F5}"/>
              </a:ext>
            </a:extLst>
          </p:cNvPr>
          <p:cNvSpPr/>
          <p:nvPr/>
        </p:nvSpPr>
        <p:spPr>
          <a:xfrm>
            <a:off x="6202016" y="2804358"/>
            <a:ext cx="5264727" cy="3169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s-ES" sz="1333" dirty="0">
                <a:latin typeface="Assistant"/>
                <a:cs typeface="Assistant"/>
              </a:rPr>
              <a:t> Centralizar la información de registro de actividades de los empleados en un repositorio único y estructurado.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sz="1333" dirty="0">
              <a:latin typeface="Assistant"/>
              <a:cs typeface="Assistan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sz="1333" dirty="0">
                <a:latin typeface="Assistant"/>
                <a:cs typeface="Assistant"/>
              </a:rPr>
              <a:t> Automatizar y estandarizar el proceso de captura de datos mediante una API transaccional y una interfaz de usuario intuitiva.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sz="1333" dirty="0">
              <a:latin typeface="Assistant"/>
              <a:cs typeface="Assistan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sz="1333" dirty="0">
                <a:latin typeface="Assistant"/>
                <a:cs typeface="Assistant"/>
              </a:rPr>
              <a:t> Desarrollar un </a:t>
            </a:r>
            <a:r>
              <a:rPr lang="es-ES" sz="1333" dirty="0" err="1">
                <a:latin typeface="Assistant"/>
                <a:cs typeface="Assistant"/>
              </a:rPr>
              <a:t>dashboard</a:t>
            </a:r>
            <a:r>
              <a:rPr lang="es-ES" sz="1333" dirty="0">
                <a:latin typeface="Assistant"/>
                <a:cs typeface="Assistant"/>
              </a:rPr>
              <a:t> analítico que integre métricas de desempeño de proyectos, costos y productividad del talento humano.</a:t>
            </a:r>
          </a:p>
          <a:p>
            <a:pPr algn="just" fontAlgn="base"/>
            <a:endParaRPr lang="es-ES" sz="1333" dirty="0">
              <a:latin typeface="Assistant"/>
              <a:cs typeface="Assistan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sz="1333" dirty="0">
                <a:latin typeface="Assistant"/>
                <a:cs typeface="Assistant"/>
              </a:rPr>
              <a:t> Mejorar la visibilidad y control sobre la ejecución de proyectos mediante indicadores.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sz="1333" dirty="0">
              <a:latin typeface="Assistant"/>
              <a:cs typeface="Assistan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sz="1333" dirty="0">
                <a:latin typeface="Assistant"/>
                <a:cs typeface="Assistant"/>
              </a:rPr>
              <a:t> Fortalecer la toma de decisiones estratégicas basadas en evidencia, mediante reportes e indicadores. </a:t>
            </a:r>
          </a:p>
        </p:txBody>
      </p:sp>
      <p:sp>
        <p:nvSpPr>
          <p:cNvPr id="38" name="Google Shape;115;p9">
            <a:extLst>
              <a:ext uri="{FF2B5EF4-FFF2-40B4-BE49-F238E27FC236}">
                <a16:creationId xmlns:a16="http://schemas.microsoft.com/office/drawing/2014/main" id="{019CE090-88CD-433B-A36E-3113A5153E24}"/>
              </a:ext>
            </a:extLst>
          </p:cNvPr>
          <p:cNvSpPr txBox="1"/>
          <p:nvPr/>
        </p:nvSpPr>
        <p:spPr>
          <a:xfrm>
            <a:off x="6758767" y="2049622"/>
            <a:ext cx="3761654" cy="55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000"/>
              </a:lnSpc>
            </a:pPr>
            <a:r>
              <a:rPr lang="es-CO" sz="1867" b="1" dirty="0">
                <a:solidFill>
                  <a:srgbClr val="FFC606"/>
                </a:solidFill>
                <a:latin typeface="Josefin Sans"/>
                <a:sym typeface="Josefin Sans"/>
              </a:rPr>
              <a:t>Objetivos</a:t>
            </a:r>
            <a:r>
              <a:rPr lang="en-US" sz="1867" b="1" dirty="0">
                <a:solidFill>
                  <a:srgbClr val="FFC606"/>
                </a:solidFill>
                <a:latin typeface="Josefin Sans"/>
                <a:sym typeface="Josefin Sans"/>
              </a:rPr>
              <a:t> </a:t>
            </a:r>
            <a:r>
              <a:rPr lang="es-CO" sz="1867" b="1" dirty="0">
                <a:solidFill>
                  <a:srgbClr val="FFC606"/>
                </a:solidFill>
                <a:latin typeface="Josefin Sans"/>
                <a:sym typeface="Josefin Sans"/>
              </a:rPr>
              <a:t>Específicos</a:t>
            </a:r>
            <a:r>
              <a:rPr lang="en-US" sz="1867" b="1" dirty="0">
                <a:solidFill>
                  <a:srgbClr val="FFC606"/>
                </a:solidFill>
                <a:latin typeface="Josefin Sans"/>
                <a:sym typeface="Josefin Sans"/>
              </a:rPr>
              <a:t>:</a:t>
            </a:r>
            <a:endParaRPr sz="533" dirty="0"/>
          </a:p>
        </p:txBody>
      </p:sp>
      <p:grpSp>
        <p:nvGrpSpPr>
          <p:cNvPr id="39" name="Google Shape;111;p9">
            <a:extLst>
              <a:ext uri="{FF2B5EF4-FFF2-40B4-BE49-F238E27FC236}">
                <a16:creationId xmlns:a16="http://schemas.microsoft.com/office/drawing/2014/main" id="{2F7F4B35-1727-4EEE-AD6B-E30B7205AABF}"/>
              </a:ext>
            </a:extLst>
          </p:cNvPr>
          <p:cNvGrpSpPr/>
          <p:nvPr/>
        </p:nvGrpSpPr>
        <p:grpSpPr>
          <a:xfrm>
            <a:off x="1041914" y="2057379"/>
            <a:ext cx="827838" cy="541776"/>
            <a:chOff x="0" y="-38100"/>
            <a:chExt cx="812800" cy="444500"/>
          </a:xfrm>
        </p:grpSpPr>
        <p:sp>
          <p:nvSpPr>
            <p:cNvPr id="40" name="Google Shape;112;p9">
              <a:extLst>
                <a:ext uri="{FF2B5EF4-FFF2-40B4-BE49-F238E27FC236}">
                  <a16:creationId xmlns:a16="http://schemas.microsoft.com/office/drawing/2014/main" id="{C57A89A7-11BA-4F5B-A00D-49AA0C9E8D1D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 dirty="0"/>
            </a:p>
          </p:txBody>
        </p:sp>
        <p:sp>
          <p:nvSpPr>
            <p:cNvPr id="41" name="Google Shape;113;p9">
              <a:extLst>
                <a:ext uri="{FF2B5EF4-FFF2-40B4-BE49-F238E27FC236}">
                  <a16:creationId xmlns:a16="http://schemas.microsoft.com/office/drawing/2014/main" id="{CDDC61C4-D5FC-4773-9B04-441F0BFDE702}"/>
                </a:ext>
              </a:extLst>
            </p:cNvPr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650" tIns="29650" rIns="29650" bIns="29650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114;p9">
            <a:extLst>
              <a:ext uri="{FF2B5EF4-FFF2-40B4-BE49-F238E27FC236}">
                <a16:creationId xmlns:a16="http://schemas.microsoft.com/office/drawing/2014/main" id="{71A8D9C4-9E79-43EE-A1A1-54594FA2F77B}"/>
              </a:ext>
            </a:extLst>
          </p:cNvPr>
          <p:cNvSpPr/>
          <p:nvPr/>
        </p:nvSpPr>
        <p:spPr>
          <a:xfrm rot="2700000">
            <a:off x="1239447" y="2133366"/>
            <a:ext cx="432007" cy="434486"/>
          </a:xfrm>
          <a:custGeom>
            <a:avLst/>
            <a:gdLst/>
            <a:ahLst/>
            <a:cxnLst/>
            <a:rect l="l" t="t" r="r" b="b"/>
            <a:pathLst>
              <a:path w="823401" h="823401" extrusionOk="0">
                <a:moveTo>
                  <a:pt x="0" y="0"/>
                </a:moveTo>
                <a:lnTo>
                  <a:pt x="823401" y="0"/>
                </a:lnTo>
                <a:lnTo>
                  <a:pt x="823401" y="823401"/>
                </a:lnTo>
                <a:lnTo>
                  <a:pt x="0" y="823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674;p26">
            <a:extLst>
              <a:ext uri="{FF2B5EF4-FFF2-40B4-BE49-F238E27FC236}">
                <a16:creationId xmlns:a16="http://schemas.microsoft.com/office/drawing/2014/main" id="{DADC89DE-D5D8-410C-AADB-B4BB7D3FE659}"/>
              </a:ext>
            </a:extLst>
          </p:cNvPr>
          <p:cNvSpPr/>
          <p:nvPr/>
        </p:nvSpPr>
        <p:spPr>
          <a:xfrm flipH="1">
            <a:off x="1869752" y="4803349"/>
            <a:ext cx="2027345" cy="1687724"/>
          </a:xfrm>
          <a:custGeom>
            <a:avLst/>
            <a:gdLst/>
            <a:ahLst/>
            <a:cxnLst/>
            <a:rect l="l" t="t" r="r" b="b"/>
            <a:pathLst>
              <a:path w="1506792" h="1419124" extrusionOk="0">
                <a:moveTo>
                  <a:pt x="1506792" y="0"/>
                </a:moveTo>
                <a:lnTo>
                  <a:pt x="0" y="0"/>
                </a:lnTo>
                <a:lnTo>
                  <a:pt x="0" y="1419124"/>
                </a:lnTo>
                <a:lnTo>
                  <a:pt x="1506792" y="1419124"/>
                </a:lnTo>
                <a:lnTo>
                  <a:pt x="1506792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85121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2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504" name="Google Shape;504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5" name="Google Shape;505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22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507" name="Google Shape;507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8" name="Google Shape;508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9" name="Google Shape;509;p22"/>
          <p:cNvSpPr txBox="1"/>
          <p:nvPr/>
        </p:nvSpPr>
        <p:spPr>
          <a:xfrm>
            <a:off x="553409" y="525254"/>
            <a:ext cx="11085183" cy="112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3"/>
              </a:lnSpc>
            </a:pPr>
            <a:r>
              <a:rPr lang="es-CO" sz="6018" b="1" dirty="0">
                <a:solidFill>
                  <a:srgbClr val="688186"/>
                </a:solidFill>
                <a:latin typeface="Josefin Sans"/>
                <a:ea typeface="Josefin Sans"/>
                <a:cs typeface="Josefin Sans"/>
                <a:sym typeface="Josefin Sans"/>
              </a:rPr>
              <a:t>Productos</a:t>
            </a:r>
            <a:endParaRPr lang="es-CO" sz="1200" dirty="0"/>
          </a:p>
        </p:txBody>
      </p:sp>
      <p:sp>
        <p:nvSpPr>
          <p:cNvPr id="520" name="Google Shape;520;p22"/>
          <p:cNvSpPr/>
          <p:nvPr/>
        </p:nvSpPr>
        <p:spPr>
          <a:xfrm>
            <a:off x="10228505" y="3424899"/>
            <a:ext cx="1286401" cy="1288536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606"/>
          </a:solidFill>
          <a:ln>
            <a:solidFill>
              <a:srgbClr val="FFC606"/>
            </a:solidFill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sp>
        <p:nvSpPr>
          <p:cNvPr id="522" name="Google Shape;522;p22"/>
          <p:cNvSpPr txBox="1"/>
          <p:nvPr/>
        </p:nvSpPr>
        <p:spPr>
          <a:xfrm>
            <a:off x="2099202" y="2592091"/>
            <a:ext cx="3493215" cy="81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21"/>
              </a:lnSpc>
            </a:pPr>
            <a:r>
              <a:rPr lang="es-ES" sz="1266" dirty="0">
                <a:latin typeface="Assistant"/>
                <a:cs typeface="Assistant"/>
              </a:rPr>
              <a:t>Centralizar toda la información proveniente de los formularios de registro de actividades de los empleados en un repositorio unificado</a:t>
            </a:r>
            <a:endParaRPr sz="1266" dirty="0">
              <a:latin typeface="Assistant"/>
              <a:cs typeface="Assistant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7103167" y="3837957"/>
            <a:ext cx="2869545" cy="81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40021"/>
              </a:lnSpc>
            </a:pPr>
            <a:r>
              <a:rPr lang="es-ES" sz="1266" dirty="0">
                <a:latin typeface="Assistant"/>
                <a:cs typeface="Assistant"/>
              </a:rPr>
              <a:t>Tablero interactivo de control y seguimiento, orientado a la analítica de proyectos y productividad</a:t>
            </a:r>
            <a:endParaRPr sz="1266" dirty="0">
              <a:latin typeface="Assistant"/>
              <a:cs typeface="Assistant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2086768" y="2255418"/>
            <a:ext cx="2218681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7"/>
              </a:lnSpc>
            </a:pPr>
            <a:r>
              <a:rPr lang="es-419" sz="1533" b="1" dirty="0">
                <a:latin typeface="Assistant"/>
                <a:cs typeface="Assistant"/>
                <a:sym typeface="Assistant"/>
              </a:rPr>
              <a:t>Integración</a:t>
            </a:r>
            <a:r>
              <a:rPr lang="en-US" sz="1533" b="1" dirty="0">
                <a:latin typeface="Assistant"/>
                <a:cs typeface="Assistant"/>
                <a:sym typeface="Assistant"/>
              </a:rPr>
              <a:t> de </a:t>
            </a:r>
            <a:r>
              <a:rPr lang="es-CO" sz="1533" b="1" dirty="0">
                <a:latin typeface="Assistant"/>
                <a:cs typeface="Assistant"/>
                <a:sym typeface="Assistant"/>
              </a:rPr>
              <a:t>Datos</a:t>
            </a:r>
            <a:endParaRPr lang="es-CO" sz="1200" dirty="0"/>
          </a:p>
        </p:txBody>
      </p:sp>
      <p:sp>
        <p:nvSpPr>
          <p:cNvPr id="529" name="Google Shape;529;p22"/>
          <p:cNvSpPr txBox="1"/>
          <p:nvPr/>
        </p:nvSpPr>
        <p:spPr>
          <a:xfrm>
            <a:off x="7754030" y="3501284"/>
            <a:ext cx="2218681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40017"/>
              </a:lnSpc>
            </a:pPr>
            <a:r>
              <a:rPr lang="es-CO" sz="1533" b="1" dirty="0">
                <a:latin typeface="Assistant"/>
                <a:cs typeface="Assistant"/>
                <a:sym typeface="Assistant"/>
              </a:rPr>
              <a:t>D</a:t>
            </a:r>
            <a:r>
              <a:rPr lang="en-US" sz="1533" b="1" dirty="0">
                <a:latin typeface="Assistant"/>
                <a:cs typeface="Assistant"/>
                <a:sym typeface="Assistant"/>
              </a:rPr>
              <a:t>ashboard</a:t>
            </a:r>
            <a:endParaRPr sz="1200" dirty="0"/>
          </a:p>
        </p:txBody>
      </p:sp>
      <p:sp>
        <p:nvSpPr>
          <p:cNvPr id="37" name="Google Shape;522;p22">
            <a:extLst>
              <a:ext uri="{FF2B5EF4-FFF2-40B4-BE49-F238E27FC236}">
                <a16:creationId xmlns:a16="http://schemas.microsoft.com/office/drawing/2014/main" id="{E4428D43-99C2-44EA-9B37-739D6BDB3F9A}"/>
              </a:ext>
            </a:extLst>
          </p:cNvPr>
          <p:cNvSpPr txBox="1"/>
          <p:nvPr/>
        </p:nvSpPr>
        <p:spPr>
          <a:xfrm>
            <a:off x="2099202" y="5049025"/>
            <a:ext cx="3493215" cy="81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21"/>
              </a:lnSpc>
            </a:pPr>
            <a:r>
              <a:rPr lang="es-ES" sz="1266" dirty="0">
                <a:latin typeface="Assistant"/>
                <a:cs typeface="Assistant"/>
              </a:rPr>
              <a:t>API transaccional, acompañada de una interfaz gráfica amigable, que reemplace los formatos manuales actuales</a:t>
            </a:r>
            <a:endParaRPr sz="1266" dirty="0">
              <a:latin typeface="Assistant"/>
              <a:cs typeface="Assistant"/>
            </a:endParaRPr>
          </a:p>
        </p:txBody>
      </p:sp>
      <p:sp>
        <p:nvSpPr>
          <p:cNvPr id="38" name="Google Shape;526;p22">
            <a:extLst>
              <a:ext uri="{FF2B5EF4-FFF2-40B4-BE49-F238E27FC236}">
                <a16:creationId xmlns:a16="http://schemas.microsoft.com/office/drawing/2014/main" id="{49E458BE-9B45-4ABB-8167-EAB9184A3CCA}"/>
              </a:ext>
            </a:extLst>
          </p:cNvPr>
          <p:cNvSpPr txBox="1"/>
          <p:nvPr/>
        </p:nvSpPr>
        <p:spPr>
          <a:xfrm>
            <a:off x="2086768" y="4712352"/>
            <a:ext cx="2218681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7"/>
              </a:lnSpc>
            </a:pPr>
            <a:r>
              <a:rPr lang="es-419" sz="1533" b="1" dirty="0">
                <a:latin typeface="Assistant"/>
                <a:cs typeface="Assistant"/>
                <a:sym typeface="Assistant"/>
              </a:rPr>
              <a:t>API</a:t>
            </a:r>
            <a:endParaRPr lang="es-CO" sz="1200" dirty="0"/>
          </a:p>
        </p:txBody>
      </p:sp>
      <p:sp>
        <p:nvSpPr>
          <p:cNvPr id="45" name="Google Shape;520;p22">
            <a:extLst>
              <a:ext uri="{FF2B5EF4-FFF2-40B4-BE49-F238E27FC236}">
                <a16:creationId xmlns:a16="http://schemas.microsoft.com/office/drawing/2014/main" id="{B51B6BF1-3F8F-4F5A-9C7E-27D90D2D0367}"/>
              </a:ext>
            </a:extLst>
          </p:cNvPr>
          <p:cNvSpPr/>
          <p:nvPr/>
        </p:nvSpPr>
        <p:spPr>
          <a:xfrm>
            <a:off x="642302" y="2255417"/>
            <a:ext cx="1286401" cy="1288536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606"/>
          </a:solidFill>
          <a:ln>
            <a:solidFill>
              <a:srgbClr val="FFC606"/>
            </a:solidFill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sp>
        <p:nvSpPr>
          <p:cNvPr id="46" name="Google Shape;520;p22">
            <a:extLst>
              <a:ext uri="{FF2B5EF4-FFF2-40B4-BE49-F238E27FC236}">
                <a16:creationId xmlns:a16="http://schemas.microsoft.com/office/drawing/2014/main" id="{B12F2F9F-74DA-4649-9EF2-E97544040015}"/>
              </a:ext>
            </a:extLst>
          </p:cNvPr>
          <p:cNvSpPr/>
          <p:nvPr/>
        </p:nvSpPr>
        <p:spPr>
          <a:xfrm>
            <a:off x="642302" y="4712352"/>
            <a:ext cx="1286401" cy="1288536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88186"/>
          </a:solidFill>
          <a:ln>
            <a:solidFill>
              <a:srgbClr val="688186"/>
            </a:solidFill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10CD9-A732-4A65-85DB-2045F584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52" y="4877104"/>
            <a:ext cx="875266" cy="875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741D11-9D1A-40F1-8F53-BCCF63469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52" y="2496211"/>
            <a:ext cx="818301" cy="818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A5B200-1726-4C06-B865-EF33D8525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375" y="3565366"/>
            <a:ext cx="935567" cy="9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0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>
          <a:extLst>
            <a:ext uri="{FF2B5EF4-FFF2-40B4-BE49-F238E27FC236}">
              <a16:creationId xmlns:a16="http://schemas.microsoft.com/office/drawing/2014/main" id="{DD9E0347-37CB-164C-2D86-E9ACB09C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9AE7DE-3C37-5197-33E2-D23A92CB2D10}"/>
              </a:ext>
            </a:extLst>
          </p:cNvPr>
          <p:cNvSpPr/>
          <p:nvPr/>
        </p:nvSpPr>
        <p:spPr>
          <a:xfrm>
            <a:off x="8119312" y="1646882"/>
            <a:ext cx="3726355" cy="4452477"/>
          </a:xfrm>
          <a:prstGeom prst="roundRect">
            <a:avLst/>
          </a:prstGeom>
          <a:solidFill>
            <a:srgbClr val="FFC6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A5E4A7-331E-AE6E-BF25-A926F9C3354B}"/>
              </a:ext>
            </a:extLst>
          </p:cNvPr>
          <p:cNvSpPr/>
          <p:nvPr/>
        </p:nvSpPr>
        <p:spPr>
          <a:xfrm>
            <a:off x="4232823" y="1646882"/>
            <a:ext cx="3726355" cy="4452477"/>
          </a:xfrm>
          <a:prstGeom prst="roundRect">
            <a:avLst/>
          </a:prstGeom>
          <a:solidFill>
            <a:srgbClr val="6881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B7D64E-80C0-04AC-594A-ED342138DB3C}"/>
              </a:ext>
            </a:extLst>
          </p:cNvPr>
          <p:cNvSpPr/>
          <p:nvPr/>
        </p:nvSpPr>
        <p:spPr>
          <a:xfrm>
            <a:off x="346334" y="1646882"/>
            <a:ext cx="3726355" cy="4452477"/>
          </a:xfrm>
          <a:prstGeom prst="roundRect">
            <a:avLst/>
          </a:prstGeom>
          <a:solidFill>
            <a:srgbClr val="FFC6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grpSp>
        <p:nvGrpSpPr>
          <p:cNvPr id="503" name="Google Shape;503;p22">
            <a:extLst>
              <a:ext uri="{FF2B5EF4-FFF2-40B4-BE49-F238E27FC236}">
                <a16:creationId xmlns:a16="http://schemas.microsoft.com/office/drawing/2014/main" id="{A5E6EAD3-3F2C-073D-E356-8B380AB7ABF1}"/>
              </a:ext>
            </a:extLst>
          </p:cNvPr>
          <p:cNvGrpSpPr/>
          <p:nvPr/>
        </p:nvGrpSpPr>
        <p:grpSpPr>
          <a:xfrm rot="5400000">
            <a:off x="6078932" y="-6078931"/>
            <a:ext cx="130579" cy="12288441"/>
            <a:chOff x="0" y="-38100"/>
            <a:chExt cx="51587" cy="4854693"/>
          </a:xfrm>
        </p:grpSpPr>
        <p:sp>
          <p:nvSpPr>
            <p:cNvPr id="504" name="Google Shape;504;p22">
              <a:extLst>
                <a:ext uri="{FF2B5EF4-FFF2-40B4-BE49-F238E27FC236}">
                  <a16:creationId xmlns:a16="http://schemas.microsoft.com/office/drawing/2014/main" id="{5AD2FD4E-D237-F685-9DD4-0D4CA10168F0}"/>
                </a:ext>
              </a:extLst>
            </p:cNvPr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05" name="Google Shape;505;p22">
              <a:extLst>
                <a:ext uri="{FF2B5EF4-FFF2-40B4-BE49-F238E27FC236}">
                  <a16:creationId xmlns:a16="http://schemas.microsoft.com/office/drawing/2014/main" id="{E0A6E36A-2E6C-5DB0-D276-1B424BD8C972}"/>
                </a:ext>
              </a:extLst>
            </p:cNvPr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22">
            <a:extLst>
              <a:ext uri="{FF2B5EF4-FFF2-40B4-BE49-F238E27FC236}">
                <a16:creationId xmlns:a16="http://schemas.microsoft.com/office/drawing/2014/main" id="{93EF7FCA-0A48-97FE-0127-67B8326E4DBB}"/>
              </a:ext>
            </a:extLst>
          </p:cNvPr>
          <p:cNvGrpSpPr/>
          <p:nvPr/>
        </p:nvGrpSpPr>
        <p:grpSpPr>
          <a:xfrm rot="5400000">
            <a:off x="6078932" y="648492"/>
            <a:ext cx="130579" cy="12288441"/>
            <a:chOff x="0" y="-38100"/>
            <a:chExt cx="51587" cy="4854693"/>
          </a:xfrm>
        </p:grpSpPr>
        <p:sp>
          <p:nvSpPr>
            <p:cNvPr id="507" name="Google Shape;507;p22">
              <a:extLst>
                <a:ext uri="{FF2B5EF4-FFF2-40B4-BE49-F238E27FC236}">
                  <a16:creationId xmlns:a16="http://schemas.microsoft.com/office/drawing/2014/main" id="{62A8499F-3152-62CC-F987-5B172A50B1D6}"/>
                </a:ext>
              </a:extLst>
            </p:cNvPr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08" name="Google Shape;508;p22">
              <a:extLst>
                <a:ext uri="{FF2B5EF4-FFF2-40B4-BE49-F238E27FC236}">
                  <a16:creationId xmlns:a16="http://schemas.microsoft.com/office/drawing/2014/main" id="{027B2AF8-E7BF-5B8E-01BB-EADF51F28FE7}"/>
                </a:ext>
              </a:extLst>
            </p:cNvPr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9" name="Google Shape;509;p22">
            <a:extLst>
              <a:ext uri="{FF2B5EF4-FFF2-40B4-BE49-F238E27FC236}">
                <a16:creationId xmlns:a16="http://schemas.microsoft.com/office/drawing/2014/main" id="{18A2E346-2BF9-391A-BA7B-D6A19BDF6B0A}"/>
              </a:ext>
            </a:extLst>
          </p:cNvPr>
          <p:cNvSpPr txBox="1"/>
          <p:nvPr/>
        </p:nvSpPr>
        <p:spPr>
          <a:xfrm>
            <a:off x="553408" y="271804"/>
            <a:ext cx="11085183" cy="112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3"/>
              </a:lnSpc>
            </a:pPr>
            <a:r>
              <a:rPr lang="es-CO" sz="6018" b="1" dirty="0">
                <a:solidFill>
                  <a:srgbClr val="688186"/>
                </a:solidFill>
                <a:latin typeface="Josefin Sans"/>
                <a:sym typeface="Josefin Sans"/>
              </a:rPr>
              <a:t>Productos</a:t>
            </a:r>
            <a:endParaRPr lang="es-CO" sz="1200" dirty="0"/>
          </a:p>
        </p:txBody>
      </p:sp>
      <p:sp>
        <p:nvSpPr>
          <p:cNvPr id="2" name="Google Shape;565;p23">
            <a:extLst>
              <a:ext uri="{FF2B5EF4-FFF2-40B4-BE49-F238E27FC236}">
                <a16:creationId xmlns:a16="http://schemas.microsoft.com/office/drawing/2014/main" id="{212138C5-E742-6D89-6A71-11C5E49205C8}"/>
              </a:ext>
            </a:extLst>
          </p:cNvPr>
          <p:cNvSpPr txBox="1"/>
          <p:nvPr/>
        </p:nvSpPr>
        <p:spPr>
          <a:xfrm>
            <a:off x="1062336" y="2033106"/>
            <a:ext cx="2218681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867" b="1" dirty="0">
                <a:latin typeface="Assistant"/>
                <a:cs typeface="Assistant"/>
                <a:sym typeface="Assistant"/>
              </a:rPr>
              <a:t>Extracción de datos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E9F40F-4BF6-8779-C983-31CE1391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28" y="3579945"/>
            <a:ext cx="3503566" cy="1630404"/>
          </a:xfrm>
          <a:prstGeom prst="rect">
            <a:avLst/>
          </a:prstGeom>
        </p:spPr>
      </p:pic>
      <p:sp>
        <p:nvSpPr>
          <p:cNvPr id="6" name="Google Shape;565;p23">
            <a:extLst>
              <a:ext uri="{FF2B5EF4-FFF2-40B4-BE49-F238E27FC236}">
                <a16:creationId xmlns:a16="http://schemas.microsoft.com/office/drawing/2014/main" id="{61DF89CF-75CC-B760-F38B-29D8BBA2330A}"/>
              </a:ext>
            </a:extLst>
          </p:cNvPr>
          <p:cNvSpPr txBox="1"/>
          <p:nvPr/>
        </p:nvSpPr>
        <p:spPr>
          <a:xfrm>
            <a:off x="419894" y="2777669"/>
            <a:ext cx="3503566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600" dirty="0">
                <a:latin typeface="Assistant"/>
                <a:cs typeface="Assistant"/>
                <a:sym typeface="Assistant"/>
              </a:rPr>
              <a:t>Información de horas trabajadas en tablas de correos</a:t>
            </a:r>
          </a:p>
        </p:txBody>
      </p:sp>
      <p:sp>
        <p:nvSpPr>
          <p:cNvPr id="7" name="Google Shape;565;p23">
            <a:extLst>
              <a:ext uri="{FF2B5EF4-FFF2-40B4-BE49-F238E27FC236}">
                <a16:creationId xmlns:a16="http://schemas.microsoft.com/office/drawing/2014/main" id="{4B9DE7E7-6407-4970-23D6-017970BF383D}"/>
              </a:ext>
            </a:extLst>
          </p:cNvPr>
          <p:cNvSpPr txBox="1"/>
          <p:nvPr/>
        </p:nvSpPr>
        <p:spPr>
          <a:xfrm>
            <a:off x="4986660" y="2234219"/>
            <a:ext cx="2218681" cy="4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867" b="1" dirty="0">
                <a:latin typeface="Assistant"/>
                <a:cs typeface="Assistant"/>
                <a:sym typeface="Assistant"/>
              </a:rPr>
              <a:t>Transformación</a:t>
            </a:r>
          </a:p>
        </p:txBody>
      </p:sp>
      <p:sp>
        <p:nvSpPr>
          <p:cNvPr id="10" name="Google Shape;565;p23">
            <a:extLst>
              <a:ext uri="{FF2B5EF4-FFF2-40B4-BE49-F238E27FC236}">
                <a16:creationId xmlns:a16="http://schemas.microsoft.com/office/drawing/2014/main" id="{42B9689E-210F-FAAA-1DDA-E44D4EF0AA02}"/>
              </a:ext>
            </a:extLst>
          </p:cNvPr>
          <p:cNvSpPr txBox="1"/>
          <p:nvPr/>
        </p:nvSpPr>
        <p:spPr>
          <a:xfrm>
            <a:off x="4344216" y="2777670"/>
            <a:ext cx="3503566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600" dirty="0">
                <a:latin typeface="Assistant"/>
                <a:cs typeface="Assistant"/>
                <a:sym typeface="Assistant"/>
              </a:rPr>
              <a:t>Script que recorre el HTML de los correos y extrae información necesaria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4F5CCFC-7DBA-F21B-A0C3-B1380A85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4" y="3827100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565;p23">
            <a:extLst>
              <a:ext uri="{FF2B5EF4-FFF2-40B4-BE49-F238E27FC236}">
                <a16:creationId xmlns:a16="http://schemas.microsoft.com/office/drawing/2014/main" id="{69E91679-3B0A-C4DD-9351-719CFDB9E3D1}"/>
              </a:ext>
            </a:extLst>
          </p:cNvPr>
          <p:cNvSpPr txBox="1"/>
          <p:nvPr/>
        </p:nvSpPr>
        <p:spPr>
          <a:xfrm>
            <a:off x="8946711" y="2234219"/>
            <a:ext cx="2218681" cy="4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867" b="1" dirty="0">
                <a:latin typeface="Assistant"/>
                <a:cs typeface="Assistant"/>
                <a:sym typeface="Assistant"/>
              </a:rPr>
              <a:t>Carga</a:t>
            </a:r>
          </a:p>
        </p:txBody>
      </p:sp>
      <p:sp>
        <p:nvSpPr>
          <p:cNvPr id="18" name="Google Shape;565;p23">
            <a:extLst>
              <a:ext uri="{FF2B5EF4-FFF2-40B4-BE49-F238E27FC236}">
                <a16:creationId xmlns:a16="http://schemas.microsoft.com/office/drawing/2014/main" id="{BCD13937-2337-9663-0757-390E11D73A9F}"/>
              </a:ext>
            </a:extLst>
          </p:cNvPr>
          <p:cNvSpPr txBox="1"/>
          <p:nvPr/>
        </p:nvSpPr>
        <p:spPr>
          <a:xfrm>
            <a:off x="8304268" y="2777670"/>
            <a:ext cx="3503566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s-CO" sz="1600" dirty="0">
                <a:latin typeface="Assistant"/>
                <a:cs typeface="Assistant"/>
                <a:sym typeface="Assistant"/>
              </a:rPr>
              <a:t>Tabulación de la información recopilada en una única tabla de registros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97652-852C-480F-9980-52B7E6EAE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317" y="3579946"/>
            <a:ext cx="1857343" cy="185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2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504" name="Google Shape;504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5" name="Google Shape;505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22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507" name="Google Shape;507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8" name="Google Shape;508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9" name="Google Shape;509;p22"/>
          <p:cNvSpPr txBox="1"/>
          <p:nvPr/>
        </p:nvSpPr>
        <p:spPr>
          <a:xfrm>
            <a:off x="553409" y="304386"/>
            <a:ext cx="11085183" cy="112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3"/>
              </a:lnSpc>
            </a:pPr>
            <a:r>
              <a:rPr lang="es-CO" sz="6018" b="1" dirty="0">
                <a:solidFill>
                  <a:srgbClr val="688186"/>
                </a:solidFill>
                <a:latin typeface="Josefin Sans"/>
                <a:sym typeface="Josefin Sans"/>
              </a:rPr>
              <a:t>Productos</a:t>
            </a:r>
            <a:endParaRPr lang="es-CO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8277C-A509-4B2A-876C-1C4FD2A1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9" y="1606099"/>
            <a:ext cx="4792295" cy="4726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394C87-878E-424C-B9AA-E432E8059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940" y="1645860"/>
            <a:ext cx="3578087" cy="4660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144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23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539" name="Google Shape;539;p23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40" name="Google Shape;540;p23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542" name="Google Shape;542;p23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43" name="Google Shape;543;p23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0" name="Google Shape;560;p23"/>
          <p:cNvSpPr txBox="1"/>
          <p:nvPr/>
        </p:nvSpPr>
        <p:spPr>
          <a:xfrm>
            <a:off x="1184370" y="484899"/>
            <a:ext cx="9823260" cy="9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0"/>
              </a:lnSpc>
            </a:pPr>
            <a:r>
              <a:rPr lang="en-US" sz="5334" b="1" dirty="0">
                <a:solidFill>
                  <a:srgbClr val="688186"/>
                </a:solidFill>
                <a:latin typeface="Josefin Sans"/>
                <a:ea typeface="Josefin Sans"/>
                <a:cs typeface="Josefin Sans"/>
                <a:sym typeface="Josefin Sans"/>
              </a:rPr>
              <a:t>Datos</a:t>
            </a:r>
            <a:endParaRPr sz="1200" dirty="0"/>
          </a:p>
        </p:txBody>
      </p:sp>
      <p:sp>
        <p:nvSpPr>
          <p:cNvPr id="563" name="Google Shape;563;p23"/>
          <p:cNvSpPr txBox="1"/>
          <p:nvPr/>
        </p:nvSpPr>
        <p:spPr>
          <a:xfrm>
            <a:off x="848383" y="2392138"/>
            <a:ext cx="2567514" cy="275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21"/>
              </a:lnSpc>
            </a:pPr>
            <a:r>
              <a:rPr lang="es-CO" sz="1600" dirty="0">
                <a:latin typeface="Assistant"/>
                <a:ea typeface="Assistant"/>
                <a:cs typeface="Assistant"/>
                <a:sym typeface="Assistant"/>
              </a:rPr>
              <a:t>Datos provenientes de correos electrónicos y archivos de Excel</a:t>
            </a:r>
            <a:r>
              <a:rPr lang="en-US" sz="160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</a:p>
          <a:p>
            <a:pPr algn="ctr">
              <a:lnSpc>
                <a:spcPct val="140021"/>
              </a:lnSpc>
            </a:pPr>
            <a:endParaRPr lang="en-US" sz="1600" dirty="0">
              <a:latin typeface="Assistant"/>
              <a:cs typeface="Assistant"/>
              <a:sym typeface="Assistant"/>
            </a:endParaRPr>
          </a:p>
          <a:p>
            <a:pPr algn="ctr">
              <a:lnSpc>
                <a:spcPct val="140021"/>
              </a:lnSpc>
            </a:pPr>
            <a:r>
              <a:rPr lang="es-CO" sz="1600" dirty="0">
                <a:latin typeface="Assistant"/>
                <a:cs typeface="Assistant"/>
                <a:sym typeface="Assistant"/>
              </a:rPr>
              <a:t>Contiene el histórico real de las horas de trabajo de los empleados en cada proyecto</a:t>
            </a:r>
            <a:endParaRPr lang="es-CO" sz="1200" dirty="0"/>
          </a:p>
        </p:txBody>
      </p:sp>
      <p:sp>
        <p:nvSpPr>
          <p:cNvPr id="565" name="Google Shape;565;p23"/>
          <p:cNvSpPr txBox="1"/>
          <p:nvPr/>
        </p:nvSpPr>
        <p:spPr>
          <a:xfrm>
            <a:off x="1022800" y="1548553"/>
            <a:ext cx="2218681" cy="80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n-US" sz="1867" b="1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Datos de la </a:t>
            </a:r>
            <a:r>
              <a:rPr lang="en-US" sz="1867" b="1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Empresa</a:t>
            </a:r>
            <a:endParaRPr sz="1200" dirty="0"/>
          </a:p>
        </p:txBody>
      </p:sp>
      <p:sp>
        <p:nvSpPr>
          <p:cNvPr id="569" name="Google Shape;569;p23"/>
          <p:cNvSpPr txBox="1"/>
          <p:nvPr/>
        </p:nvSpPr>
        <p:spPr>
          <a:xfrm>
            <a:off x="4986660" y="10283205"/>
            <a:ext cx="2218681" cy="33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n-US" sz="1533" b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Write a main point here</a:t>
            </a:r>
            <a:endParaRPr sz="1200"/>
          </a:p>
        </p:txBody>
      </p:sp>
      <p:sp>
        <p:nvSpPr>
          <p:cNvPr id="42" name="Google Shape;544;p23">
            <a:extLst>
              <a:ext uri="{FF2B5EF4-FFF2-40B4-BE49-F238E27FC236}">
                <a16:creationId xmlns:a16="http://schemas.microsoft.com/office/drawing/2014/main" id="{E7E14DC7-5DB3-41C5-8C3D-E5A524525992}"/>
              </a:ext>
            </a:extLst>
          </p:cNvPr>
          <p:cNvSpPr/>
          <p:nvPr/>
        </p:nvSpPr>
        <p:spPr>
          <a:xfrm>
            <a:off x="3968362" y="3746757"/>
            <a:ext cx="2156641" cy="2157984"/>
          </a:xfrm>
          <a:custGeom>
            <a:avLst/>
            <a:gdLst/>
            <a:ahLst/>
            <a:cxnLst/>
            <a:rect l="l" t="t" r="r" b="b"/>
            <a:pathLst>
              <a:path w="3234961" h="3230281" extrusionOk="0">
                <a:moveTo>
                  <a:pt x="0" y="0"/>
                </a:moveTo>
                <a:lnTo>
                  <a:pt x="3234960" y="0"/>
                </a:lnTo>
                <a:lnTo>
                  <a:pt x="3234960" y="3230281"/>
                </a:lnTo>
                <a:lnTo>
                  <a:pt x="0" y="3230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8898"/>
            </a:stretch>
          </a:blipFill>
          <a:ln>
            <a:noFill/>
          </a:ln>
        </p:spPr>
      </p:sp>
      <p:sp>
        <p:nvSpPr>
          <p:cNvPr id="43" name="Google Shape;545;p23">
            <a:extLst>
              <a:ext uri="{FF2B5EF4-FFF2-40B4-BE49-F238E27FC236}">
                <a16:creationId xmlns:a16="http://schemas.microsoft.com/office/drawing/2014/main" id="{0AA3EC42-0E01-40A4-A155-E8B32A9FD5CF}"/>
              </a:ext>
            </a:extLst>
          </p:cNvPr>
          <p:cNvSpPr/>
          <p:nvPr/>
        </p:nvSpPr>
        <p:spPr>
          <a:xfrm rot="5400000">
            <a:off x="3969035" y="1590787"/>
            <a:ext cx="2156641" cy="2157984"/>
          </a:xfrm>
          <a:custGeom>
            <a:avLst/>
            <a:gdLst/>
            <a:ahLst/>
            <a:cxnLst/>
            <a:rect l="l" t="t" r="r" b="b"/>
            <a:pathLst>
              <a:path w="3234961" h="3230281" extrusionOk="0">
                <a:moveTo>
                  <a:pt x="0" y="0"/>
                </a:moveTo>
                <a:lnTo>
                  <a:pt x="3234960" y="0"/>
                </a:lnTo>
                <a:lnTo>
                  <a:pt x="3234960" y="3230281"/>
                </a:lnTo>
                <a:lnTo>
                  <a:pt x="0" y="3230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98898"/>
            </a:stretch>
          </a:blipFill>
          <a:ln>
            <a:noFill/>
          </a:ln>
        </p:spPr>
      </p:sp>
      <p:sp>
        <p:nvSpPr>
          <p:cNvPr id="44" name="Google Shape;546;p23">
            <a:extLst>
              <a:ext uri="{FF2B5EF4-FFF2-40B4-BE49-F238E27FC236}">
                <a16:creationId xmlns:a16="http://schemas.microsoft.com/office/drawing/2014/main" id="{B13A477D-4A48-45B1-9C3C-045F7BBBB127}"/>
              </a:ext>
            </a:extLst>
          </p:cNvPr>
          <p:cNvSpPr/>
          <p:nvPr/>
        </p:nvSpPr>
        <p:spPr>
          <a:xfrm>
            <a:off x="6126348" y="3748100"/>
            <a:ext cx="2156641" cy="2157984"/>
          </a:xfrm>
          <a:custGeom>
            <a:avLst/>
            <a:gdLst/>
            <a:ahLst/>
            <a:cxnLst/>
            <a:rect l="l" t="t" r="r" b="b"/>
            <a:pathLst>
              <a:path w="3234961" h="3230281" extrusionOk="0">
                <a:moveTo>
                  <a:pt x="0" y="0"/>
                </a:moveTo>
                <a:lnTo>
                  <a:pt x="3234960" y="0"/>
                </a:lnTo>
                <a:lnTo>
                  <a:pt x="3234960" y="3230281"/>
                </a:lnTo>
                <a:lnTo>
                  <a:pt x="0" y="3230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8902"/>
            </a:stretch>
          </a:blipFill>
          <a:ln>
            <a:noFill/>
          </a:ln>
        </p:spPr>
      </p:sp>
      <p:sp>
        <p:nvSpPr>
          <p:cNvPr id="45" name="Google Shape;547;p23">
            <a:extLst>
              <a:ext uri="{FF2B5EF4-FFF2-40B4-BE49-F238E27FC236}">
                <a16:creationId xmlns:a16="http://schemas.microsoft.com/office/drawing/2014/main" id="{EBEC5A58-CCDC-438B-B0DA-58ECA12D18BD}"/>
              </a:ext>
            </a:extLst>
          </p:cNvPr>
          <p:cNvSpPr/>
          <p:nvPr/>
        </p:nvSpPr>
        <p:spPr>
          <a:xfrm rot="16200000">
            <a:off x="6127020" y="1590787"/>
            <a:ext cx="2156641" cy="2157984"/>
          </a:xfrm>
          <a:custGeom>
            <a:avLst/>
            <a:gdLst/>
            <a:ahLst/>
            <a:cxnLst/>
            <a:rect l="l" t="t" r="r" b="b"/>
            <a:pathLst>
              <a:path w="3234961" h="3230281" extrusionOk="0">
                <a:moveTo>
                  <a:pt x="0" y="0"/>
                </a:moveTo>
                <a:lnTo>
                  <a:pt x="3234960" y="0"/>
                </a:lnTo>
                <a:lnTo>
                  <a:pt x="3234960" y="3230281"/>
                </a:lnTo>
                <a:lnTo>
                  <a:pt x="0" y="3230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8902"/>
            </a:stretch>
          </a:blipFill>
          <a:ln>
            <a:noFill/>
          </a:ln>
        </p:spPr>
      </p:sp>
      <p:sp>
        <p:nvSpPr>
          <p:cNvPr id="47" name="Google Shape;549;p23">
            <a:extLst>
              <a:ext uri="{FF2B5EF4-FFF2-40B4-BE49-F238E27FC236}">
                <a16:creationId xmlns:a16="http://schemas.microsoft.com/office/drawing/2014/main" id="{BC28EFF4-05C3-4917-8035-A218D9A39D60}"/>
              </a:ext>
            </a:extLst>
          </p:cNvPr>
          <p:cNvSpPr/>
          <p:nvPr/>
        </p:nvSpPr>
        <p:spPr>
          <a:xfrm>
            <a:off x="5785459" y="3474624"/>
            <a:ext cx="545187" cy="545187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8818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grpSp>
        <p:nvGrpSpPr>
          <p:cNvPr id="49" name="Google Shape;551;p23">
            <a:extLst>
              <a:ext uri="{FF2B5EF4-FFF2-40B4-BE49-F238E27FC236}">
                <a16:creationId xmlns:a16="http://schemas.microsoft.com/office/drawing/2014/main" id="{2CE58CDF-4D0F-4006-ABC6-DD91DC1B1581}"/>
              </a:ext>
            </a:extLst>
          </p:cNvPr>
          <p:cNvGrpSpPr/>
          <p:nvPr/>
        </p:nvGrpSpPr>
        <p:grpSpPr>
          <a:xfrm>
            <a:off x="5836570" y="4677305"/>
            <a:ext cx="545187" cy="545187"/>
            <a:chOff x="0" y="0"/>
            <a:chExt cx="812800" cy="812800"/>
          </a:xfrm>
        </p:grpSpPr>
        <p:sp>
          <p:nvSpPr>
            <p:cNvPr id="50" name="Google Shape;552;p23">
              <a:extLst>
                <a:ext uri="{FF2B5EF4-FFF2-40B4-BE49-F238E27FC236}">
                  <a16:creationId xmlns:a16="http://schemas.microsoft.com/office/drawing/2014/main" id="{A28EBDAA-2707-4A49-A7CA-03D9605303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51" name="Google Shape;553;p23">
              <a:extLst>
                <a:ext uri="{FF2B5EF4-FFF2-40B4-BE49-F238E27FC236}">
                  <a16:creationId xmlns:a16="http://schemas.microsoft.com/office/drawing/2014/main" id="{59EC0981-F2CF-4DF2-8528-1C3096F37F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54;p23">
            <a:extLst>
              <a:ext uri="{FF2B5EF4-FFF2-40B4-BE49-F238E27FC236}">
                <a16:creationId xmlns:a16="http://schemas.microsoft.com/office/drawing/2014/main" id="{C34136FA-C085-4FBF-B74F-51976FF7EB56}"/>
              </a:ext>
            </a:extLst>
          </p:cNvPr>
          <p:cNvGrpSpPr/>
          <p:nvPr/>
        </p:nvGrpSpPr>
        <p:grpSpPr>
          <a:xfrm>
            <a:off x="5887681" y="2204841"/>
            <a:ext cx="545187" cy="545187"/>
            <a:chOff x="0" y="0"/>
            <a:chExt cx="812800" cy="812800"/>
          </a:xfrm>
        </p:grpSpPr>
        <p:sp>
          <p:nvSpPr>
            <p:cNvPr id="53" name="Google Shape;555;p23">
              <a:extLst>
                <a:ext uri="{FF2B5EF4-FFF2-40B4-BE49-F238E27FC236}">
                  <a16:creationId xmlns:a16="http://schemas.microsoft.com/office/drawing/2014/main" id="{53668721-0F4B-4ABE-B78E-4373E9B02E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54" name="Google Shape;556;p23">
              <a:extLst>
                <a:ext uri="{FF2B5EF4-FFF2-40B4-BE49-F238E27FC236}">
                  <a16:creationId xmlns:a16="http://schemas.microsoft.com/office/drawing/2014/main" id="{8EB138A9-BA61-4EEF-BA2B-2E326E03ACB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63;p23">
            <a:extLst>
              <a:ext uri="{FF2B5EF4-FFF2-40B4-BE49-F238E27FC236}">
                <a16:creationId xmlns:a16="http://schemas.microsoft.com/office/drawing/2014/main" id="{2A0DFE7B-1629-4D92-BA5D-3B991576D28E}"/>
              </a:ext>
            </a:extLst>
          </p:cNvPr>
          <p:cNvSpPr txBox="1"/>
          <p:nvPr/>
        </p:nvSpPr>
        <p:spPr>
          <a:xfrm>
            <a:off x="9103168" y="2280682"/>
            <a:ext cx="2567514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21"/>
              </a:lnSpc>
            </a:pPr>
            <a:r>
              <a:rPr lang="es-CO" sz="1600" dirty="0">
                <a:latin typeface="Assistant"/>
                <a:ea typeface="Assistant"/>
                <a:cs typeface="Assistant"/>
                <a:sym typeface="Assistant"/>
              </a:rPr>
              <a:t>Datos provenientes de un dataset abierto. Información sobre horas de trabajo en diferentes proyectos.</a:t>
            </a:r>
          </a:p>
          <a:p>
            <a:pPr algn="ctr">
              <a:lnSpc>
                <a:spcPct val="140021"/>
              </a:lnSpc>
            </a:pPr>
            <a:endParaRPr lang="es-CO" sz="1600" dirty="0">
              <a:latin typeface="Assistant"/>
              <a:cs typeface="Assistant"/>
              <a:sym typeface="Assistant"/>
            </a:endParaRPr>
          </a:p>
          <a:p>
            <a:pPr algn="ctr">
              <a:lnSpc>
                <a:spcPct val="140021"/>
              </a:lnSpc>
            </a:pPr>
            <a:r>
              <a:rPr lang="es-CO" sz="1600" dirty="0">
                <a:latin typeface="Assistant"/>
                <a:cs typeface="Assistant"/>
                <a:sym typeface="Assistant"/>
              </a:rPr>
              <a:t>Complementa los datos para el ejercicio académico</a:t>
            </a:r>
          </a:p>
        </p:txBody>
      </p:sp>
      <p:sp>
        <p:nvSpPr>
          <p:cNvPr id="56" name="Google Shape;565;p23">
            <a:extLst>
              <a:ext uri="{FF2B5EF4-FFF2-40B4-BE49-F238E27FC236}">
                <a16:creationId xmlns:a16="http://schemas.microsoft.com/office/drawing/2014/main" id="{DB30D457-041E-4E0C-B612-4F6CD1DDC54A}"/>
              </a:ext>
            </a:extLst>
          </p:cNvPr>
          <p:cNvSpPr txBox="1"/>
          <p:nvPr/>
        </p:nvSpPr>
        <p:spPr>
          <a:xfrm>
            <a:off x="9277584" y="1855687"/>
            <a:ext cx="2218681" cy="4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7"/>
              </a:lnSpc>
            </a:pPr>
            <a:r>
              <a:rPr lang="en-US" sz="1867" b="1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Datos de </a:t>
            </a:r>
            <a:r>
              <a:rPr lang="en-US" sz="1867" b="1" dirty="0" err="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Gryzzly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44063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24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579" name="Google Shape;579;p24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80" name="Google Shape;580;p24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24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582" name="Google Shape;582;p24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83" name="Google Shape;583;p24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p24"/>
          <p:cNvSpPr/>
          <p:nvPr/>
        </p:nvSpPr>
        <p:spPr>
          <a:xfrm flipH="1">
            <a:off x="6297408" y="1740454"/>
            <a:ext cx="5782886" cy="2049233"/>
          </a:xfrm>
          <a:custGeom>
            <a:avLst/>
            <a:gdLst/>
            <a:ahLst/>
            <a:cxnLst/>
            <a:rect l="l" t="t" r="r" b="b"/>
            <a:pathLst>
              <a:path w="1352586" h="711200" extrusionOk="0">
                <a:moveTo>
                  <a:pt x="1060950" y="0"/>
                </a:moveTo>
                <a:lnTo>
                  <a:pt x="282407" y="0"/>
                </a:lnTo>
                <a:cubicBezTo>
                  <a:pt x="126426" y="0"/>
                  <a:pt x="0" y="123512"/>
                  <a:pt x="0" y="275871"/>
                </a:cubicBezTo>
                <a:cubicBezTo>
                  <a:pt x="0" y="386169"/>
                  <a:pt x="66279" y="481310"/>
                  <a:pt x="162037" y="525451"/>
                </a:cubicBezTo>
                <a:lnTo>
                  <a:pt x="162037" y="711200"/>
                </a:lnTo>
                <a:lnTo>
                  <a:pt x="353844" y="551732"/>
                </a:lnTo>
                <a:lnTo>
                  <a:pt x="1060950" y="551732"/>
                </a:lnTo>
                <a:cubicBezTo>
                  <a:pt x="1226137" y="551732"/>
                  <a:pt x="1352575" y="428220"/>
                  <a:pt x="1352575" y="275861"/>
                </a:cubicBezTo>
                <a:cubicBezTo>
                  <a:pt x="1352586" y="123512"/>
                  <a:pt x="1226137" y="0"/>
                  <a:pt x="1060950" y="0"/>
                </a:cubicBezTo>
                <a:close/>
              </a:path>
            </a:pathLst>
          </a:custGeom>
          <a:solidFill>
            <a:srgbClr val="FFC60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sp>
        <p:nvSpPr>
          <p:cNvPr id="596" name="Google Shape;596;p24"/>
          <p:cNvSpPr txBox="1"/>
          <p:nvPr/>
        </p:nvSpPr>
        <p:spPr>
          <a:xfrm>
            <a:off x="1060683" y="501914"/>
            <a:ext cx="9823260" cy="9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1000"/>
              </a:lnSpc>
            </a:pPr>
            <a:r>
              <a:rPr lang="es-CO" sz="5334" b="1" dirty="0">
                <a:solidFill>
                  <a:srgbClr val="688186"/>
                </a:solidFill>
                <a:latin typeface="Josefin Sans"/>
                <a:sym typeface="Josefin Sans"/>
              </a:rPr>
              <a:t>Hip</a:t>
            </a:r>
            <a:r>
              <a:rPr lang="es-ES" sz="5334" b="1" dirty="0" err="1">
                <a:solidFill>
                  <a:srgbClr val="688186"/>
                </a:solidFill>
                <a:latin typeface="Josefin Sans"/>
              </a:rPr>
              <a:t>ótesis</a:t>
            </a:r>
            <a:endParaRPr lang="es-CO" sz="5334" b="1" dirty="0">
              <a:solidFill>
                <a:srgbClr val="688186"/>
              </a:solidFill>
              <a:latin typeface="Josefin Sans"/>
            </a:endParaRPr>
          </a:p>
        </p:txBody>
      </p:sp>
      <p:sp>
        <p:nvSpPr>
          <p:cNvPr id="597" name="Google Shape;597;p24"/>
          <p:cNvSpPr txBox="1"/>
          <p:nvPr/>
        </p:nvSpPr>
        <p:spPr>
          <a:xfrm>
            <a:off x="9025210" y="3813534"/>
            <a:ext cx="351060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s-CO" sz="2400" b="1" i="1" dirty="0">
                <a:latin typeface="Assistant"/>
                <a:cs typeface="Assistant"/>
                <a:sym typeface="Assistant"/>
              </a:rPr>
              <a:t>H</a:t>
            </a:r>
            <a:r>
              <a:rPr lang="en-US" sz="2400" b="1" i="1" dirty="0" err="1">
                <a:latin typeface="Assistant"/>
                <a:cs typeface="Assistant"/>
                <a:sym typeface="Assistant"/>
              </a:rPr>
              <a:t>ip</a:t>
            </a:r>
            <a:r>
              <a:rPr lang="es-ES" sz="2400" b="1" i="1" dirty="0" err="1">
                <a:latin typeface="Assistant"/>
                <a:cs typeface="Assistant"/>
              </a:rPr>
              <a:t>ó</a:t>
            </a:r>
            <a:r>
              <a:rPr lang="en-US" sz="2400" b="1" i="1" dirty="0" err="1">
                <a:latin typeface="Assistant"/>
                <a:cs typeface="Assistant"/>
                <a:sym typeface="Assistant"/>
              </a:rPr>
              <a:t>tesis</a:t>
            </a:r>
            <a:r>
              <a:rPr lang="en-US" sz="2400" b="1" i="1" dirty="0">
                <a:latin typeface="Assistant"/>
                <a:cs typeface="Assistant"/>
                <a:sym typeface="Assistant"/>
              </a:rPr>
              <a:t> </a:t>
            </a:r>
            <a:r>
              <a:rPr lang="en-US" sz="2400" b="1" i="1" dirty="0" err="1">
                <a:latin typeface="Assistant"/>
                <a:cs typeface="Assistant"/>
                <a:sym typeface="Assistant"/>
              </a:rPr>
              <a:t>Negocio</a:t>
            </a:r>
            <a:endParaRPr sz="2400" b="1" i="1" dirty="0">
              <a:latin typeface="Assistant"/>
              <a:cs typeface="Assistant"/>
            </a:endParaRPr>
          </a:p>
        </p:txBody>
      </p:sp>
      <p:sp>
        <p:nvSpPr>
          <p:cNvPr id="601" name="Google Shape;601;p24"/>
          <p:cNvSpPr txBox="1"/>
          <p:nvPr/>
        </p:nvSpPr>
        <p:spPr>
          <a:xfrm>
            <a:off x="6680561" y="2093441"/>
            <a:ext cx="5016579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3"/>
              </a:lnSpc>
            </a:pPr>
            <a:r>
              <a:rPr lang="es-ES" sz="1500" b="1" i="1" dirty="0">
                <a:latin typeface="Assistant"/>
                <a:cs typeface="Assistant"/>
              </a:rPr>
              <a:t>“No hay diferencia en el uso de los recursos (horas de trabajo, presupuesto) entre los proyectos que utilizan una herramienta de monitoreo diario y los que no”</a:t>
            </a:r>
            <a:endParaRPr sz="1500" b="1" i="1" dirty="0">
              <a:latin typeface="Assistant"/>
              <a:cs typeface="Assistant"/>
            </a:endParaRPr>
          </a:p>
        </p:txBody>
      </p:sp>
      <p:sp>
        <p:nvSpPr>
          <p:cNvPr id="14" name="Google Shape;585;p24">
            <a:extLst>
              <a:ext uri="{FF2B5EF4-FFF2-40B4-BE49-F238E27FC236}">
                <a16:creationId xmlns:a16="http://schemas.microsoft.com/office/drawing/2014/main" id="{B414EE40-184B-42A1-8AB2-F41697174DFA}"/>
              </a:ext>
            </a:extLst>
          </p:cNvPr>
          <p:cNvSpPr/>
          <p:nvPr/>
        </p:nvSpPr>
        <p:spPr>
          <a:xfrm>
            <a:off x="815954" y="3844190"/>
            <a:ext cx="5782886" cy="2049233"/>
          </a:xfrm>
          <a:custGeom>
            <a:avLst/>
            <a:gdLst/>
            <a:ahLst/>
            <a:cxnLst/>
            <a:rect l="l" t="t" r="r" b="b"/>
            <a:pathLst>
              <a:path w="1352586" h="711200" extrusionOk="0">
                <a:moveTo>
                  <a:pt x="1060950" y="0"/>
                </a:moveTo>
                <a:lnTo>
                  <a:pt x="282407" y="0"/>
                </a:lnTo>
                <a:cubicBezTo>
                  <a:pt x="126426" y="0"/>
                  <a:pt x="0" y="123512"/>
                  <a:pt x="0" y="275871"/>
                </a:cubicBezTo>
                <a:cubicBezTo>
                  <a:pt x="0" y="386169"/>
                  <a:pt x="66279" y="481310"/>
                  <a:pt x="162037" y="525451"/>
                </a:cubicBezTo>
                <a:lnTo>
                  <a:pt x="162037" y="711200"/>
                </a:lnTo>
                <a:lnTo>
                  <a:pt x="353844" y="551732"/>
                </a:lnTo>
                <a:lnTo>
                  <a:pt x="1060950" y="551732"/>
                </a:lnTo>
                <a:cubicBezTo>
                  <a:pt x="1226137" y="551732"/>
                  <a:pt x="1352575" y="428220"/>
                  <a:pt x="1352575" y="275861"/>
                </a:cubicBezTo>
                <a:cubicBezTo>
                  <a:pt x="1352586" y="123512"/>
                  <a:pt x="1226137" y="0"/>
                  <a:pt x="1060950" y="0"/>
                </a:cubicBezTo>
                <a:close/>
              </a:path>
            </a:pathLst>
          </a:custGeom>
          <a:solidFill>
            <a:srgbClr val="FFC60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sp>
        <p:nvSpPr>
          <p:cNvPr id="15" name="Google Shape;597;p24">
            <a:extLst>
              <a:ext uri="{FF2B5EF4-FFF2-40B4-BE49-F238E27FC236}">
                <a16:creationId xmlns:a16="http://schemas.microsoft.com/office/drawing/2014/main" id="{84282E47-EDF7-4DF2-A1AE-1C1A64DDAD39}"/>
              </a:ext>
            </a:extLst>
          </p:cNvPr>
          <p:cNvSpPr txBox="1"/>
          <p:nvPr/>
        </p:nvSpPr>
        <p:spPr>
          <a:xfrm>
            <a:off x="-170061" y="5935470"/>
            <a:ext cx="338592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s-CO" sz="2400" b="1" i="1" dirty="0">
                <a:latin typeface="Assistant"/>
                <a:cs typeface="Assistant"/>
                <a:sym typeface="Assistant"/>
              </a:rPr>
              <a:t>H</a:t>
            </a:r>
            <a:r>
              <a:rPr lang="en-US" sz="2400" b="1" i="1" dirty="0" err="1">
                <a:latin typeface="Assistant"/>
                <a:cs typeface="Assistant"/>
                <a:sym typeface="Assistant"/>
              </a:rPr>
              <a:t>ip</a:t>
            </a:r>
            <a:r>
              <a:rPr lang="es-ES" sz="2400" b="1" i="1" dirty="0" err="1">
                <a:latin typeface="Assistant"/>
                <a:cs typeface="Assistant"/>
              </a:rPr>
              <a:t>ó</a:t>
            </a:r>
            <a:r>
              <a:rPr lang="en-US" sz="2400" b="1" i="1" dirty="0" err="1">
                <a:latin typeface="Assistant"/>
                <a:cs typeface="Assistant"/>
                <a:sym typeface="Assistant"/>
              </a:rPr>
              <a:t>tesis</a:t>
            </a:r>
            <a:r>
              <a:rPr lang="en-US" sz="2400" b="1" i="1" dirty="0">
                <a:latin typeface="Assistant"/>
                <a:cs typeface="Assistant"/>
                <a:sym typeface="Assistant"/>
              </a:rPr>
              <a:t> </a:t>
            </a:r>
            <a:r>
              <a:rPr lang="es-CO" sz="2400" b="1" i="1" dirty="0">
                <a:latin typeface="Assistant"/>
                <a:cs typeface="Assistant"/>
                <a:sym typeface="Assistant"/>
              </a:rPr>
              <a:t>practica</a:t>
            </a:r>
            <a:endParaRPr lang="es-CO" sz="1867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F069D7-5F89-4E23-98BC-525503849504}"/>
              </a:ext>
            </a:extLst>
          </p:cNvPr>
          <p:cNvSpPr/>
          <p:nvPr/>
        </p:nvSpPr>
        <p:spPr>
          <a:xfrm>
            <a:off x="1522899" y="4035133"/>
            <a:ext cx="46930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i="1" dirty="0">
                <a:latin typeface="Assistant"/>
                <a:cs typeface="Assistant"/>
              </a:rPr>
              <a:t>“La eficiencia promedio del empleado en proyectos exitosos es igual a la eficiencia promedio del empleado en proyectos no exitosos”</a:t>
            </a:r>
          </a:p>
        </p:txBody>
      </p:sp>
    </p:spTree>
    <p:extLst>
      <p:ext uri="{BB962C8B-B14F-4D97-AF65-F5344CB8AC3E}">
        <p14:creationId xmlns:p14="http://schemas.microsoft.com/office/powerpoint/2010/main" val="366416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2"/>
          <p:cNvGrpSpPr/>
          <p:nvPr/>
        </p:nvGrpSpPr>
        <p:grpSpPr>
          <a:xfrm rot="5400000">
            <a:off x="6078931" y="-6078931"/>
            <a:ext cx="130579" cy="12288441"/>
            <a:chOff x="0" y="-38100"/>
            <a:chExt cx="51587" cy="4854693"/>
          </a:xfrm>
        </p:grpSpPr>
        <p:sp>
          <p:nvSpPr>
            <p:cNvPr id="504" name="Google Shape;504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5" name="Google Shape;505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22"/>
          <p:cNvGrpSpPr/>
          <p:nvPr/>
        </p:nvGrpSpPr>
        <p:grpSpPr>
          <a:xfrm rot="5400000">
            <a:off x="6078931" y="648491"/>
            <a:ext cx="130579" cy="12288441"/>
            <a:chOff x="0" y="-38100"/>
            <a:chExt cx="51587" cy="4854693"/>
          </a:xfrm>
        </p:grpSpPr>
        <p:sp>
          <p:nvSpPr>
            <p:cNvPr id="507" name="Google Shape;507;p22"/>
            <p:cNvSpPr/>
            <p:nvPr/>
          </p:nvSpPr>
          <p:spPr>
            <a:xfrm>
              <a:off x="0" y="0"/>
              <a:ext cx="51587" cy="4816592"/>
            </a:xfrm>
            <a:custGeom>
              <a:avLst/>
              <a:gdLst/>
              <a:ahLst/>
              <a:cxnLst/>
              <a:rect l="l" t="t" r="r" b="b"/>
              <a:pathLst>
                <a:path w="51587" h="4816592" extrusionOk="0">
                  <a:moveTo>
                    <a:pt x="0" y="0"/>
                  </a:moveTo>
                  <a:lnTo>
                    <a:pt x="51587" y="0"/>
                  </a:lnTo>
                  <a:lnTo>
                    <a:pt x="5158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C606"/>
            </a:solidFill>
            <a:ln>
              <a:noFill/>
            </a:ln>
          </p:spPr>
        </p:sp>
        <p:sp>
          <p:nvSpPr>
            <p:cNvPr id="508" name="Google Shape;508;p22"/>
            <p:cNvSpPr txBox="1"/>
            <p:nvPr/>
          </p:nvSpPr>
          <p:spPr>
            <a:xfrm>
              <a:off x="0" y="-38100"/>
              <a:ext cx="51587" cy="485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9" name="Google Shape;509;p22"/>
          <p:cNvSpPr txBox="1"/>
          <p:nvPr/>
        </p:nvSpPr>
        <p:spPr>
          <a:xfrm>
            <a:off x="6144220" y="3968006"/>
            <a:ext cx="2662452" cy="496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1003"/>
              </a:lnSpc>
            </a:pPr>
            <a:r>
              <a:rPr lang="es-CO" sz="2667" b="1" dirty="0">
                <a:solidFill>
                  <a:srgbClr val="FFC606"/>
                </a:solidFill>
                <a:latin typeface="Josefin Sans"/>
                <a:sym typeface="Josefin Sans"/>
              </a:rPr>
              <a:t>Estrategias:</a:t>
            </a:r>
            <a:endParaRPr lang="es-CO" sz="3600" dirty="0">
              <a:solidFill>
                <a:srgbClr val="FFC60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2258A-6BB2-45FF-9FA8-5047E8E6490A}"/>
              </a:ext>
            </a:extLst>
          </p:cNvPr>
          <p:cNvSpPr/>
          <p:nvPr/>
        </p:nvSpPr>
        <p:spPr>
          <a:xfrm>
            <a:off x="406399" y="1127890"/>
            <a:ext cx="6308036" cy="2350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1467" dirty="0">
                <a:latin typeface="Assistant"/>
                <a:cs typeface="Assistant"/>
              </a:rPr>
              <a:t>El registro de horas en la empresa presenta actualmente una alta dispersión de la información entre correos electrónicos y archivos de Excel. Centralizar los registros de las actividades representa un paso inicial para visualizar y disponibilizar la información, y aproximarse a un mejor gobierno de datos.  </a:t>
            </a:r>
          </a:p>
          <a:p>
            <a:pPr algn="just"/>
            <a:endParaRPr lang="es-CO" sz="1467" dirty="0">
              <a:latin typeface="Assistant"/>
              <a:cs typeface="Assistant"/>
            </a:endParaRPr>
          </a:p>
          <a:p>
            <a:pPr algn="just"/>
            <a:r>
              <a:rPr lang="es-CO" sz="1467" dirty="0">
                <a:latin typeface="Assistant"/>
                <a:cs typeface="Assistant"/>
              </a:rPr>
              <a:t>Los productos de Datos presentados (API, </a:t>
            </a:r>
            <a:r>
              <a:rPr lang="es-CO" sz="1467" dirty="0" err="1">
                <a:latin typeface="Assistant"/>
                <a:cs typeface="Assistant"/>
              </a:rPr>
              <a:t>Dashboard</a:t>
            </a:r>
            <a:r>
              <a:rPr lang="es-CO" sz="1467" dirty="0">
                <a:latin typeface="Assistant"/>
                <a:cs typeface="Assistant"/>
              </a:rPr>
              <a:t>, ETL) responden a necesidades existentes en la organización y permiten un futuro con mayor control, además de, habilitar la toma de decisiones basada en datos.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2278B-2630-4170-A9DE-0BF2F7C320CF}"/>
              </a:ext>
            </a:extLst>
          </p:cNvPr>
          <p:cNvSpPr/>
          <p:nvPr/>
        </p:nvSpPr>
        <p:spPr>
          <a:xfrm>
            <a:off x="6461409" y="4611607"/>
            <a:ext cx="6140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11" indent="-228611">
              <a:buFont typeface="Arial" panose="020B0604020202020204" pitchFamily="34" charset="0"/>
              <a:buChar char="•"/>
            </a:pPr>
            <a:r>
              <a:rPr lang="es-CO" sz="1600" dirty="0">
                <a:latin typeface="Assistant"/>
                <a:cs typeface="Assistant"/>
              </a:rPr>
              <a:t>Identificación de buenas practicas </a:t>
            </a:r>
          </a:p>
          <a:p>
            <a:pPr marL="228611" indent="-228611">
              <a:buFont typeface="Arial" panose="020B0604020202020204" pitchFamily="34" charset="0"/>
              <a:buChar char="•"/>
            </a:pPr>
            <a:endParaRPr lang="es-CO" sz="1600" dirty="0">
              <a:latin typeface="Assistant"/>
              <a:cs typeface="Assistant"/>
            </a:endParaRP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s-CO" sz="1600" dirty="0">
                <a:latin typeface="Assistant"/>
                <a:cs typeface="Assistant"/>
              </a:rPr>
              <a:t>Fortalecimiento del proceso de planeación y control</a:t>
            </a:r>
          </a:p>
          <a:p>
            <a:pPr marL="228611" indent="-228611">
              <a:buFont typeface="Arial" panose="020B0604020202020204" pitchFamily="34" charset="0"/>
              <a:buChar char="•"/>
            </a:pPr>
            <a:endParaRPr lang="es-CO" sz="1600" dirty="0">
              <a:latin typeface="Assistant"/>
              <a:cs typeface="Assistant"/>
            </a:endParaRP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s-CO" sz="1600" dirty="0">
                <a:latin typeface="Assistant"/>
                <a:cs typeface="Assistant"/>
              </a:rPr>
              <a:t>Diseño de incentivos basados en eficiencia.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47FD7-7B70-4C12-A618-49BF8C008A4D}"/>
              </a:ext>
            </a:extLst>
          </p:cNvPr>
          <p:cNvSpPr/>
          <p:nvPr/>
        </p:nvSpPr>
        <p:spPr>
          <a:xfrm>
            <a:off x="272496" y="423974"/>
            <a:ext cx="3211136" cy="7134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21003"/>
              </a:lnSpc>
            </a:pPr>
            <a:r>
              <a:rPr lang="es-CO" sz="3600" b="1" dirty="0">
                <a:solidFill>
                  <a:srgbClr val="FFC606"/>
                </a:solidFill>
                <a:latin typeface="Josefin Sans"/>
                <a:sym typeface="Josefin Sans"/>
              </a:rPr>
              <a:t>Conclusiones</a:t>
            </a:r>
            <a:endParaRPr lang="es-CO" sz="533" dirty="0">
              <a:solidFill>
                <a:srgbClr val="FFC606"/>
              </a:solidFill>
            </a:endParaRPr>
          </a:p>
        </p:txBody>
      </p:sp>
      <p:sp>
        <p:nvSpPr>
          <p:cNvPr id="17" name="Google Shape;676;p26">
            <a:extLst>
              <a:ext uri="{FF2B5EF4-FFF2-40B4-BE49-F238E27FC236}">
                <a16:creationId xmlns:a16="http://schemas.microsoft.com/office/drawing/2014/main" id="{298619A9-BCEA-4F8A-8D33-9F1E30DCEE10}"/>
              </a:ext>
            </a:extLst>
          </p:cNvPr>
          <p:cNvSpPr/>
          <p:nvPr/>
        </p:nvSpPr>
        <p:spPr>
          <a:xfrm>
            <a:off x="1077753" y="3787196"/>
            <a:ext cx="2774212" cy="2715834"/>
          </a:xfrm>
          <a:custGeom>
            <a:avLst/>
            <a:gdLst/>
            <a:ahLst/>
            <a:cxnLst/>
            <a:rect l="l" t="t" r="r" b="b"/>
            <a:pathLst>
              <a:path w="1259987" h="1337825" extrusionOk="0">
                <a:moveTo>
                  <a:pt x="0" y="0"/>
                </a:moveTo>
                <a:lnTo>
                  <a:pt x="1259987" y="0"/>
                </a:lnTo>
                <a:lnTo>
                  <a:pt x="1259987" y="1337825"/>
                </a:lnTo>
                <a:lnTo>
                  <a:pt x="0" y="1337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" name="Google Shape;678;p26">
            <a:extLst>
              <a:ext uri="{FF2B5EF4-FFF2-40B4-BE49-F238E27FC236}">
                <a16:creationId xmlns:a16="http://schemas.microsoft.com/office/drawing/2014/main" id="{D22D859D-BCEB-42DF-A4D2-2B846C6B2C23}"/>
              </a:ext>
            </a:extLst>
          </p:cNvPr>
          <p:cNvSpPr/>
          <p:nvPr/>
        </p:nvSpPr>
        <p:spPr>
          <a:xfrm>
            <a:off x="8842275" y="549379"/>
            <a:ext cx="2269221" cy="2478242"/>
          </a:xfrm>
          <a:custGeom>
            <a:avLst/>
            <a:gdLst/>
            <a:ahLst/>
            <a:cxnLst/>
            <a:rect l="l" t="t" r="r" b="b"/>
            <a:pathLst>
              <a:path w="1318438" h="1450282" extrusionOk="0">
                <a:moveTo>
                  <a:pt x="0" y="0"/>
                </a:moveTo>
                <a:lnTo>
                  <a:pt x="1318438" y="0"/>
                </a:lnTo>
                <a:lnTo>
                  <a:pt x="1318438" y="1450282"/>
                </a:lnTo>
                <a:lnTo>
                  <a:pt x="0" y="1450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259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468</Words>
  <Application>Microsoft Office PowerPoint</Application>
  <PresentationFormat>Widescreen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Assistant</vt:lpstr>
      <vt:lpstr>Calibri</vt:lpstr>
      <vt:lpstr>Calibri Light</vt:lpstr>
      <vt:lpstr>Josefin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Santiago Palacios</dc:creator>
  <cp:lastModifiedBy>Santiago Palacios</cp:lastModifiedBy>
  <cp:revision>5</cp:revision>
  <dcterms:created xsi:type="dcterms:W3CDTF">2025-10-19T02:03:40Z</dcterms:created>
  <dcterms:modified xsi:type="dcterms:W3CDTF">2025-10-19T17:19:43Z</dcterms:modified>
</cp:coreProperties>
</file>